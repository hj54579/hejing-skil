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Space Grotesk"/>
      <ns0:bold ns1:id="rIdFont23"/>
      <ns0:regular ns1:id="rIdFont24"/>
    </ns0:embeddedFont>
    <ns0:embeddedFont>
      <ns0:font typeface="Noto Sans SC"/>
      <ns0:bold ns1:id="rIdFont25"/>
      <ns0:regular ns1:id="rIdFont26"/>
    </ns0:embeddedFont>
    <ns0:embeddedFont>
      <ns0:font typeface="Noto Serif SC"/>
      <ns0:bold ns1:id="rIdFont2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a5ad6e18-90f8-4218-a804-17497f773e3a.fntdata" /><ns0:Relationship Id="rIdFont24" Type="http://schemas.openxmlformats.org/officeDocument/2006/relationships/font" Target="fonts/bd600917-f9b1-4504-9619-2ecc1fac2eb9.fntdata" /><ns0:Relationship Id="rIdFont25" Type="http://schemas.openxmlformats.org/officeDocument/2006/relationships/font" Target="fonts/05637d0f-9cca-4244-9fad-161c4f64025a.fntdata" /><ns0:Relationship Id="rIdFont26" Type="http://schemas.openxmlformats.org/officeDocument/2006/relationships/font" Target="fonts/544a82ba-f56e-4664-9fa1-166f0dfb7615.fntdata" /><ns0:Relationship Id="rIdFont27" Type="http://schemas.openxmlformats.org/officeDocument/2006/relationships/font" Target="fonts/07f73fcc-cc7c-4f10-8845-4a005cccc1c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495776"/>
            <a:ext cx="10668000" cy="819150"/>
          </a:xfrm>
          <a:prstGeom prst="rect">
            <a:avLst/>
          </a:prstGeom>
          <a:solidFill>
            <a:srgbClr val="19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495776"/>
            <a:ext cx="38100" cy="8191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2378" y="5686276"/>
            <a:ext cx="1660921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2378" y="5686276"/>
            <a:ext cx="9525" cy="438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8162"/>
            <a:ext cx="148232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47945" y="557212"/>
            <a:ext cx="7678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Space Grotesk"/>
              </a:rPr>
              <a:t>2026.10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5552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Space Grotesk"/>
              </a:rPr>
              <a:t>CAREER GROWTH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41277"/>
            <a:ext cx="11430000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Noto Serif SC"/>
              </a:rPr>
              <a:t>从被调剂到主动选择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587948"/>
            <a:ext cx="1143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CBD5E1"/>
                </a:solidFill>
                <a:latin typeface="Noto Sans SC"/>
              </a:rPr>
              <a:t>—— AI与机器人交叉领域的技术型产品经理成长路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532" y="533400"/>
            <a:ext cx="32411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Noto Sans SC"/>
              </a:rPr>
              <a:t>全国大学生职业规划大赛 · 成长赛道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776763"/>
            <a:ext cx="7143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Noto Serif SC"/>
              </a:rPr>
              <a:t>“我要做的不是和机器人抢饭碗的人，而是设计和驾驭机器人的人。”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4803" y="5686276"/>
            <a:ext cx="17784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FFFFF"/>
                </a:solidFill>
                <a:latin typeface="Noto Sans SC"/>
              </a:rPr>
              <a:t>何军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4803" y="5952976"/>
            <a:ext cx="17784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Noto Sans SC"/>
              </a:rPr>
              <a:t>机器人工程261班 · 18岁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80382"/>
            <a:ext cx="3505200" cy="2630685"/>
          </a:xfrm>
          <a:prstGeom prst="roundRect">
            <a:avLst>
              <a:gd name="adj" fmla="val 2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580382"/>
            <a:ext cx="3505200" cy="2630685"/>
          </a:xfrm>
          <a:prstGeom prst="roundRect">
            <a:avLst>
              <a:gd name="adj" fmla="val 2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2580382"/>
            <a:ext cx="3505200" cy="2630685"/>
          </a:xfrm>
          <a:prstGeom prst="roundRect">
            <a:avLst>
              <a:gd name="adj" fmla="val 2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20154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80382"/>
            <a:ext cx="3505200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275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725" y="3570982"/>
            <a:ext cx="804564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3570982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520154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580382"/>
            <a:ext cx="3505200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39075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81525" y="3570982"/>
            <a:ext cx="804564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81525" y="3570982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7200" y="520154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7200" y="2580382"/>
            <a:ext cx="3505200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7200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72875" y="2580382"/>
            <a:ext cx="9525" cy="263068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5325" y="3570982"/>
            <a:ext cx="804564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15325" y="3570982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23282"/>
            <a:ext cx="457200" cy="457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23282"/>
            <a:ext cx="457200" cy="457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23282"/>
            <a:ext cx="4572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208" y="3056632"/>
            <a:ext cx="148232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008" y="3056632"/>
            <a:ext cx="148232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808" y="3056632"/>
            <a:ext cx="148232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01 / PERSONAL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三个关键词，快速认识何军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3609082"/>
            <a:ext cx="70931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关键词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009132"/>
            <a:ext cx="397549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111"/>
                </a:solidFill>
                <a:latin typeface="Noto Sans SC"/>
              </a:rPr>
              <a:t>动手派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409182"/>
            <a:ext cx="3124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SC"/>
              </a:rPr>
              <a:t>开学利用课余约一周，独立上线个人网站全流程。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609082"/>
            <a:ext cx="70931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关键词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525" y="4009132"/>
            <a:ext cx="397549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111"/>
                </a:solidFill>
                <a:latin typeface="Noto Sans SC"/>
              </a:rPr>
              <a:t>沟通者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1525" y="4409182"/>
            <a:ext cx="3124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SC"/>
              </a:rPr>
              <a:t>高中优秀班干、学习委员；作为校园合伙人推广产品。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0575" y="3609082"/>
            <a:ext cx="70931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关键词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4009132"/>
            <a:ext cx="3876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111"/>
                </a:solidFill>
                <a:latin typeface="Noto Sans SC"/>
              </a:rPr>
              <a:t>长期主义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5325" y="4409182"/>
            <a:ext cx="3124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SC"/>
              </a:rPr>
              <a:t>面向短板打补丁，本学期起每日背单词攻坚英语。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86087"/>
            <a:ext cx="2600325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0425" y="2986087"/>
            <a:ext cx="2600325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986087"/>
            <a:ext cx="2600325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2986087"/>
            <a:ext cx="2600325" cy="1819275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32242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8550" y="32242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9375" y="32527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4795837"/>
            <a:ext cx="26003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2986087"/>
            <a:ext cx="2600325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0" y="2986087"/>
            <a:ext cx="9525" cy="18192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050" y="2986087"/>
            <a:ext cx="9525" cy="18192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20200" y="32242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02 / GROWTH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四站路线图：目标是怎么长出来的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32242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6433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起点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852862"/>
            <a:ext cx="27878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被调剂的专业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19576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SC"/>
              </a:rPr>
              <a:t>录取机器人工程，重新认知专业内涵。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5675" y="32242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8550" y="36433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探索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8550" y="3852862"/>
            <a:ext cx="27878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三月深度调研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8550" y="419576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SC"/>
              </a:rPr>
              <a:t>对话AI、查岗位要求、跟踪产业政策。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32527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367188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3881437"/>
            <a:ext cx="27878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实战与积累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4224337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SC"/>
              </a:rPr>
              <a:t>建网站、练沟通、补短板、三年规划。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7325" y="32242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0200" y="36433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调整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0200" y="3852862"/>
            <a:ext cx="27878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复盘与备份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419576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Noto Sans SC"/>
              </a:rPr>
              <a:t>三信号校准方向，设立AI服务Plan B。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28975" y="2371725"/>
            <a:ext cx="57340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0" y="4438650"/>
            <a:ext cx="571500" cy="28575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501" y="2838450"/>
            <a:ext cx="266848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03 /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起点：我的专业，是“被调剂”来的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5606" y="3409950"/>
            <a:ext cx="630078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2100" i="0" u="none">
                <a:solidFill>
                  <a:srgbClr val="1E293B"/>
                </a:solidFill>
                <a:latin typeface="Noto Serif SC"/>
              </a:rPr>
              <a:t>高考录取时，机器人工程并非第一志愿。</a:t>
            </a:r>
            <a:r>
              <a:t>
</a:t>
            </a:r>
            <a:r>
              <a:rPr b="1" sz="2100" i="0" u="none">
                <a:solidFill>
                  <a:srgbClr val="1E293B"/>
                </a:solidFill>
                <a:latin typeface="Noto Serif SC"/>
              </a:rPr>
              <a:t> 第一反应是：“以后要去修机器人吗？”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5625" y="4695825"/>
            <a:ext cx="6000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D5C3A"/>
                </a:solidFill>
                <a:latin typeface="Noto Sans SC"/>
              </a:rPr>
              <a:t>我的决定：先看清楚，再下结论。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57512"/>
            <a:ext cx="3505200" cy="1876425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957512"/>
            <a:ext cx="3505200" cy="1876425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2957512"/>
            <a:ext cx="3505200" cy="1876425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71837"/>
            <a:ext cx="207466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71837"/>
            <a:ext cx="207466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71837"/>
            <a:ext cx="207466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04 / RESEARCH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行动：拒绝躺平，展开三个月深度调研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90937"/>
            <a:ext cx="397549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B2B2B"/>
                </a:solidFill>
                <a:latin typeface="Noto Sans SC"/>
              </a:rPr>
              <a:t>问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62412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SC"/>
              </a:rPr>
              <a:t>从生活问答升级到与 DeepSeek、ChatGPT、Claude 深度协作。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690937"/>
            <a:ext cx="397549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B2B2B"/>
                </a:solidFill>
                <a:latin typeface="Noto Sans SC"/>
              </a:rPr>
              <a:t>查岗位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062412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SC"/>
              </a:rPr>
              <a:t>精细分析“机器人产品经理”与“AI产品经理”招聘需求。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690937"/>
            <a:ext cx="38766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B2B2B"/>
                </a:solidFill>
                <a:latin typeface="Noto Sans SC"/>
              </a:rPr>
              <a:t>看行业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62412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SC"/>
              </a:rPr>
              <a:t>持续追踪具身智能政策导向与前沿产业新闻发展。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66975"/>
            <a:ext cx="10972800" cy="56197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181350"/>
            <a:ext cx="10972800" cy="56197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895725"/>
            <a:ext cx="10972800" cy="56197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686300"/>
            <a:ext cx="10972800" cy="638175"/>
          </a:xfrm>
          <a:prstGeom prst="roundRect">
            <a:avLst>
              <a:gd name="adj" fmla="val 8955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19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4669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466975"/>
            <a:ext cx="38100" cy="561975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2875" y="2466975"/>
            <a:ext cx="9525" cy="561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7338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1813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181350"/>
            <a:ext cx="38100" cy="561975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3181350"/>
            <a:ext cx="9525" cy="561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448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8957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895725"/>
            <a:ext cx="38100" cy="561975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72875" y="3895725"/>
            <a:ext cx="9525" cy="561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05 / KEY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三个发现，替我汇聚出职业方向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2647950"/>
            <a:ext cx="8024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5C3A"/>
                </a:solidFill>
                <a:latin typeface="Noto Sans SC"/>
              </a:rPr>
              <a:t>发现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3531" y="2647950"/>
            <a:ext cx="457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Noto Sans SC"/>
              </a:rPr>
              <a:t>具身智能列入国家六大未来产业，写入政府工作报告。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362325"/>
            <a:ext cx="8024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5C3A"/>
                </a:solidFill>
                <a:latin typeface="Noto Sans SC"/>
              </a:rPr>
              <a:t>发现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3531" y="3362325"/>
            <a:ext cx="431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Noto Sans SC"/>
              </a:rPr>
              <a:t>岗位核心要求拆解为：“懂技术、能沟通、有项目”。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076700"/>
            <a:ext cx="8024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5C3A"/>
                </a:solidFill>
                <a:latin typeface="Noto Sans SC"/>
              </a:rPr>
              <a:t>发现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3531" y="4076700"/>
            <a:ext cx="456158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Noto Sans SC"/>
              </a:rPr>
              <a:t>个人优势（沟通表达与AI协作）与市场需求高度契合。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38125" y="4876800"/>
            <a:ext cx="12668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Noto Serif SC"/>
              </a:rPr>
              <a:t>明确目标：AI与机器人交叉领域的技术型产品经理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91012"/>
            <a:ext cx="10972800" cy="581025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919412"/>
            <a:ext cx="3530649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749" y="2919412"/>
            <a:ext cx="3530649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2919412"/>
            <a:ext cx="3530649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77658" y="4491037"/>
            <a:ext cx="9525" cy="1809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06 / TARGET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技术型产品经理：把技术“翻译”成产品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91037"/>
            <a:ext cx="523837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SC"/>
              </a:rPr>
              <a:t>目标企业：</a:t>
            </a:r>
            <a:r>
              <a:rPr b="1" sz="1050" i="0" u="none">
                <a:solidFill>
                  <a:srgbClr val="64748B"/>
                </a:solidFill>
                <a:latin typeface="Noto Sans SC"/>
              </a:rPr>
              <a:t> </a:t>
            </a:r>
            <a:r>
              <a:rPr b="0" sz="1125" i="0" u="none">
                <a:solidFill>
                  <a:srgbClr val="1E293B"/>
                </a:solidFill>
                <a:latin typeface="Noto Sans SC"/>
              </a:rPr>
              <a:t>宇树科技等具身智能公司 / 包含机器人业务的科技龙头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6258" y="4491037"/>
            <a:ext cx="3729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SC"/>
              </a:rPr>
              <a:t>意向地域：</a:t>
            </a:r>
            <a:r>
              <a:rPr b="1" sz="1050" i="0" u="none">
                <a:solidFill>
                  <a:srgbClr val="64748B"/>
                </a:solidFill>
                <a:latin typeface="Noto Sans SC"/>
              </a:rPr>
              <a:t> </a:t>
            </a:r>
            <a:r>
              <a:rPr b="0" sz="1125" i="0" u="none">
                <a:solidFill>
                  <a:srgbClr val="1E293B"/>
                </a:solidFill>
                <a:latin typeface="Noto Sans SC"/>
              </a:rPr>
              <a:t>深圳、杭州、上海等产业集聚城市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157537"/>
            <a:ext cx="40088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5C3A"/>
                </a:solidFill>
                <a:latin typeface="Noto Sans SC"/>
              </a:rPr>
              <a:t>要素 01：懂技术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462337"/>
            <a:ext cx="31496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SC"/>
              </a:rPr>
              <a:t>熟练协同AI大模型，理解机器人底层硬件与控制原理。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157537"/>
            <a:ext cx="40088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5C3A"/>
                </a:solidFill>
                <a:latin typeface="Noto Sans SC"/>
              </a:rPr>
              <a:t>要素 02：能沟通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3462337"/>
            <a:ext cx="31496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SC"/>
              </a:rPr>
              <a:t>具备跨部门表达协作能力，精准对接技术与需求。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157537"/>
            <a:ext cx="3901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5C3A"/>
                </a:solidFill>
                <a:latin typeface="Noto Sans SC"/>
              </a:rPr>
              <a:t>要素 03：有项目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462337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SC"/>
              </a:rPr>
              <a:t>持续积累真实落地实践，用可量化的作品说话。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834729"/>
            <a:ext cx="3505200" cy="1721941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2834729"/>
            <a:ext cx="3505200" cy="1721941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2834729"/>
            <a:ext cx="3505200" cy="1721941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991225"/>
            <a:ext cx="10972800" cy="190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625" y="3110954"/>
            <a:ext cx="619125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625" y="3110954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3425" y="3110954"/>
            <a:ext cx="619125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3425" y="3110954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7225" y="3110954"/>
            <a:ext cx="619125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7225" y="3110954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07 / INDUSTRY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具身智能：从数字思考者到物理行动者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81000" y="616267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D5C3A"/>
                </a:solidFill>
                <a:latin typeface="Noto Sans SC"/>
              </a:rPr>
              <a:t>结论：AI 与机器人的交叉，是确定性极强的长期向上赛道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149054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政策端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549104"/>
            <a:ext cx="40755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国家战略支柱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853904"/>
            <a:ext cx="32004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列入国家六大未来产业方向，连续写进政府工作报告。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8675" y="3149054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学术端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3425" y="3549104"/>
            <a:ext cx="40755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清华张涛教授观点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425" y="3853904"/>
            <a:ext cx="32004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机器人正“从数字世界的思考者，变成物理世界的行动者”。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2475" y="3149054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产业端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7225" y="3549104"/>
            <a:ext cx="39147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技术落地破局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7225" y="3853904"/>
            <a:ext cx="32004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OpenAI刷新模型能力，宇树大模型接入机械臂无人抓取。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400175"/>
            <a:ext cx="3530649" cy="4991100"/>
          </a:xfrm>
          <a:prstGeom prst="roundRect">
            <a:avLst>
              <a:gd name="adj" fmla="val 2158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1400175"/>
            <a:ext cx="3530649" cy="4991100"/>
          </a:xfrm>
          <a:prstGeom prst="roundRect">
            <a:avLst>
              <a:gd name="adj" fmla="val 2158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1400175"/>
            <a:ext cx="3530649" cy="4991100"/>
          </a:xfrm>
          <a:prstGeom prst="roundRect">
            <a:avLst>
              <a:gd name="adj" fmla="val 2158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5562600"/>
            <a:ext cx="3511599" cy="819150"/>
          </a:xfrm>
          <a:prstGeom prst="rect">
            <a:avLst/>
          </a:prstGeom>
          <a:solidFill>
            <a:srgbClr val="26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0274" y="5562600"/>
            <a:ext cx="3511599" cy="819150"/>
          </a:xfrm>
          <a:prstGeom prst="rect">
            <a:avLst/>
          </a:prstGeom>
          <a:solidFill>
            <a:srgbClr val="26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61424" y="5562600"/>
            <a:ext cx="3511599" cy="819150"/>
          </a:xfrm>
          <a:prstGeom prst="rect">
            <a:avLst/>
          </a:prstGeom>
          <a:solidFill>
            <a:srgbClr val="26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409700"/>
            <a:ext cx="3511599" cy="4972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274" y="1409700"/>
            <a:ext cx="3511599" cy="4972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1409700"/>
            <a:ext cx="3511599" cy="4972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08 / FUTURE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未来十年，我的产品在这样三个世界里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791200"/>
            <a:ext cx="40084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SC"/>
              </a:rPr>
              <a:t>黑灯工厂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6057900"/>
            <a:ext cx="4008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Noto Sans SC"/>
              </a:rPr>
              <a:t>机械臂精密组装机器人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2674" y="5791200"/>
            <a:ext cx="40084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SC"/>
              </a:rPr>
              <a:t>救援与服务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2674" y="6057900"/>
            <a:ext cx="40084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Noto Sans SC"/>
              </a:rPr>
              <a:t>特种机器人走进危险与日常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824" y="5791200"/>
            <a:ext cx="3978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SC"/>
              </a:rPr>
              <a:t>人形机器人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824" y="6057900"/>
            <a:ext cx="3978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Noto Sans SC"/>
              </a:rPr>
              <a:t>高密度 human-robot 协作共事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814637"/>
            <a:ext cx="6305550" cy="2162175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9950" y="2624137"/>
            <a:ext cx="4362450" cy="2543175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052887"/>
            <a:ext cx="5829300" cy="6858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75" y="3148012"/>
            <a:ext cx="1524000" cy="152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592" y="3433762"/>
            <a:ext cx="741015" cy="95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09 / ACTION EVIDENCE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行动①：开学课余约一周，独立上线个人网站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300412"/>
            <a:ext cx="76509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Noto Sans SC"/>
              </a:rPr>
              <a:t>全流程实践闭环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71887"/>
            <a:ext cx="7286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Noto Sans SC"/>
              </a:rPr>
              <a:t>策划 → AI协同写代码 → Netlify部署 → 绑定域名 → 动态维护。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2862262"/>
            <a:ext cx="4857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Noto Sans SC"/>
              </a:rPr>
              <a:t>现场可扫码体验网站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4786312"/>
            <a:ext cx="4857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D5C3A"/>
                </a:solidFill>
                <a:latin typeface="Space Grotesk"/>
              </a:rPr>
              <a:t>hejun54579com.netlify.app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205287"/>
            <a:ext cx="690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人机协同范式：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414837"/>
            <a:ext cx="690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SC"/>
              </a:rPr>
              <a:t>我描述现象 → AI定位问题 → 我验证修复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05125"/>
            <a:ext cx="10972800" cy="942975"/>
          </a:xfrm>
          <a:prstGeom prst="roundRect">
            <a:avLst>
              <a:gd name="adj" fmla="val 8080"/>
            </a:avLst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076700"/>
            <a:ext cx="3530649" cy="809625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749" y="4076700"/>
            <a:ext cx="3530649" cy="809625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4076700"/>
            <a:ext cx="3530649" cy="809625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10 / ACTION EVIDENCE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行动②：做网站练对话AI，卖电脑练对话人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0" y="3209925"/>
            <a:ext cx="12573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Noto Serif SC"/>
              </a:rPr>
              <a:t>“把复杂配置参数，讲成同学听得懂的语言”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2767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高中经历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86275"/>
            <a:ext cx="3913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B2B2B"/>
                </a:solidFill>
                <a:latin typeface="Noto Sans SC"/>
              </a:rPr>
              <a:t>任劳动委员 · 获评优秀班干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774" y="42767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大学职务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774" y="4486275"/>
            <a:ext cx="3913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B2B2B"/>
                </a:solidFill>
                <a:latin typeface="Noto Sans SC"/>
              </a:rPr>
              <a:t>机器人工程261班学习委员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1924" y="427672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商业实践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1924" y="4486275"/>
            <a:ext cx="3913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B2B2B"/>
                </a:solidFill>
                <a:latin typeface="Noto Sans SC"/>
              </a:rPr>
              <a:t>星辰科技校园合伙人促成成交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148012"/>
            <a:ext cx="5372100" cy="1495425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148012"/>
            <a:ext cx="5372100" cy="1495425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433762"/>
            <a:ext cx="1176039" cy="2286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8425" y="3433762"/>
            <a:ext cx="1176039" cy="228600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11 / SELF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行动③：不藏短板——用工具给性格打补丁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471862"/>
            <a:ext cx="108078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Noto Sans SC"/>
              </a:rPr>
              <a:t>短板 01：性子急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95712"/>
            <a:ext cx="64258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Noto Sans SC"/>
              </a:rPr>
              <a:t>代码误操作致网站空白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00512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Noto Sans SC"/>
              </a:rPr>
              <a:t>打补丁：</a:t>
            </a:r>
            <a:r>
              <a:rPr b="0" sz="1125" i="0" u="none">
                <a:solidFill>
                  <a:srgbClr val="475569"/>
                </a:solidFill>
                <a:latin typeface="Noto Sans SC"/>
              </a:rPr>
              <a:t>立规矩。AI代码跑完必人工复核，关键操作严格列清单执行。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471862"/>
            <a:ext cx="108078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Noto Sans SC"/>
              </a:rPr>
              <a:t>短板 02：英语弱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95712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3412"/>
                </a:solidFill>
                <a:latin typeface="Noto Sans SC"/>
              </a:rPr>
              <a:t>高考英语 53 分底子薄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100512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Noto Sans SC"/>
              </a:rPr>
              <a:t>打补丁：</a:t>
            </a:r>
            <a:r>
              <a:rPr b="0" sz="1125" i="0" u="none">
                <a:solidFill>
                  <a:srgbClr val="475569"/>
                </a:solidFill>
                <a:latin typeface="Noto Sans SC"/>
              </a:rPr>
              <a:t>日攻坚。本学期起每日坚持背单词，攻坚下学期四级首考。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47107"/>
            <a:ext cx="3530649" cy="1697087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3047107"/>
            <a:ext cx="3530649" cy="1697087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047107"/>
            <a:ext cx="3530649" cy="1697087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73466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47107"/>
            <a:ext cx="3530649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0724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749" y="473466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3047107"/>
            <a:ext cx="3530649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51874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4734669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3047107"/>
            <a:ext cx="3530649" cy="3810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899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73023" y="3047107"/>
            <a:ext cx="9525" cy="169708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12 / ACTION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三年三步：技能作品 → 竞赛实战 → 考研深化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313807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大一 · 技能与作品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561457"/>
            <a:ext cx="40088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打牢基础根基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874" y="3313807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大二 · 竞赛与实战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3561457"/>
            <a:ext cx="40088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工程项目破局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024" y="3313807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Noto Sans SC"/>
              </a:rPr>
              <a:t>大三 · 考研与深化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024" y="3561457"/>
            <a:ext cx="3901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B2B"/>
                </a:solidFill>
                <a:latin typeface="Noto Sans SC"/>
              </a:rPr>
              <a:t>学术学历提升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386816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386625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持续迭代优化个人网站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408143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175" y="407952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每日背单词备战英语四级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4294703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75" y="4292798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整理 PM 岗位学习清单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2699" y="386816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86625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数模竞赛（学长邀约入队）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2699" y="408143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7952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机器人与双创类竞赛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2699" y="4294703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0324" y="4292798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争取进入机器人实验室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3849" y="386816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1474" y="386625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启动机器人/AI方向考研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3849" y="4081432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1474" y="4079527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用竞赛成果支撑复试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3849" y="4294703"/>
            <a:ext cx="47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Noto Sans SC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1474" y="4292798"/>
            <a:ext cx="3603687" cy="213270"/>
          </a:xfrm>
          <a:prstGeom prst="rect">
            <a:avLst/>
          </a:prstGeom>
          <a:noFill/>
        </p:spPr>
        <p:txBody>
          <a:bodyPr wrap="none" lIns="476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SC"/>
              </a:rPr>
              <a:t>寻找前沿企业实习机会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714625"/>
            <a:ext cx="6313140" cy="23622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89440" y="3001416"/>
            <a:ext cx="4392959" cy="1788616"/>
          </a:xfrm>
          <a:prstGeom prst="roundRect">
            <a:avLst>
              <a:gd name="adj" fmla="val 426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5665" y="3277641"/>
            <a:ext cx="1182439" cy="247650"/>
          </a:xfrm>
          <a:prstGeom prst="rect">
            <a:avLst/>
          </a:prstGeom>
          <a:solidFill>
            <a:srgbClr val="F0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65665" y="3277641"/>
            <a:ext cx="28575" cy="247650"/>
          </a:xfrm>
          <a:prstGeom prst="rect">
            <a:avLst/>
          </a:prstGeom>
          <a:solidFill>
            <a:srgbClr val="0D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3371850"/>
            <a:ext cx="5760690" cy="4000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5825" y="3886200"/>
            <a:ext cx="5760690" cy="4000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5825" y="4400550"/>
            <a:ext cx="5760690" cy="4000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5C3A"/>
                </a:solidFill>
                <a:latin typeface="Space Grotesk"/>
              </a:rPr>
              <a:t>13 / RISK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动态调整机制与 Plan B 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990850"/>
            <a:ext cx="75609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5C3A"/>
                </a:solidFill>
                <a:latin typeface="Noto Sans SC"/>
              </a:rPr>
              <a:t>复盘机制：三个触发信号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915" y="3315741"/>
            <a:ext cx="108718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D5C3A"/>
                </a:solidFill>
                <a:latin typeface="Noto Sans SC"/>
              </a:rPr>
              <a:t>Plan B 备份方案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5665" y="3715791"/>
            <a:ext cx="472633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Noto Sans SC"/>
              </a:rPr>
              <a:t>AI 应用服务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5665" y="4087266"/>
            <a:ext cx="393575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66534"/>
                </a:solidFill>
                <a:latin typeface="Noto Sans SC"/>
              </a:rPr>
              <a:t>聚焦 AI 内容产品制作、规划与展示包装。基于已验证的沟通与 AI 协作能力，与主线互为备份。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486150"/>
            <a:ext cx="555114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Noto Sans SC"/>
              </a:rPr>
              <a:t>信号 1：</a:t>
            </a:r>
            <a:r>
              <a:rPr b="0" sz="1050" i="0" u="none">
                <a:solidFill>
                  <a:srgbClr val="334155"/>
                </a:solidFill>
                <a:latin typeface="Noto Sans SC"/>
              </a:rPr>
              <a:t> 课程成绩与四级考核是否达标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000500"/>
            <a:ext cx="555114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Noto Sans SC"/>
              </a:rPr>
              <a:t>信号 2：</a:t>
            </a:r>
            <a:r>
              <a:rPr b="0" sz="1050" i="0" u="none">
                <a:solidFill>
                  <a:srgbClr val="334155"/>
                </a:solidFill>
                <a:latin typeface="Noto Sans SC"/>
              </a:rPr>
              <a:t> 竞赛项目是否有阶段性产出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4514850"/>
            <a:ext cx="555114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Noto Sans SC"/>
              </a:rPr>
              <a:t>信号 3：</a:t>
            </a:r>
            <a:r>
              <a:rPr b="0" sz="1050" i="0" u="none">
                <a:solidFill>
                  <a:srgbClr val="334155"/>
                </a:solidFill>
                <a:latin typeface="Noto Sans SC"/>
              </a:rPr>
              <a:t> 目标岗位招聘需求是否发生变化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857250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76751"/>
            <a:ext cx="10668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38425" y="3240285"/>
            <a:ext cx="6915150" cy="762000"/>
          </a:xfrm>
          <a:prstGeom prst="roundRect">
            <a:avLst>
              <a:gd name="adj" fmla="val 10000"/>
            </a:avLst>
          </a:prstGeom>
          <a:solidFill>
            <a:srgbClr val="202D30"/>
          </a:solidFill>
          <a:ln w="9525">
            <a:solidFill>
              <a:srgbClr val="3D4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676751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0763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Noto Sans SC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5750" y="2541240"/>
            <a:ext cx="12763500" cy="470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04"/>
              </a:lnSpc>
            </a:pPr>
            <a:r>
              <a:rPr b="1" sz="2850" i="0" u="none">
                <a:solidFill>
                  <a:srgbClr val="FFFFFF"/>
                </a:solidFill>
                <a:latin typeface="Noto Serif SC"/>
              </a:rPr>
              <a:t>从被调剂到主动选择，我才刚刚出发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937" y="3478410"/>
            <a:ext cx="7858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4ADE80"/>
                </a:solidFill>
                <a:latin typeface="Noto Serif SC"/>
              </a:rPr>
              <a:t>“我要做的不是和机器人抢饭碗的人，而是设计和驾驭机器人的人。”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76776"/>
            <a:ext cx="3000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SC"/>
              </a:rPr>
              <a:t>谢谢聆听，请各位老师批评指正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43476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SC"/>
              </a:rPr>
              <a:t>何军 · 机器人工程261班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2801" y="6181576"/>
            <a:ext cx="16971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CBD5E1"/>
                </a:solidFill>
                <a:latin typeface="Space Grotesk"/>
              </a:rPr>
              <a:t>hejun54579com.netlify.app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952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724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714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714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86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86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537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6900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38425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249269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111111"/>
                </a:solidFill>
                <a:latin typeface="Noto Serif SC"/>
              </a:rPr>
              <a:t>Image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152525"/>
            <a:ext cx="358173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B2B2B"/>
                </a:solidFill>
                <a:latin typeface="Noto Sans SC"/>
              </a:rPr>
              <a:t>https://ifr.org/img/uploads/Intrinsic_Trumpf_pic_2.jpg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343025"/>
            <a:ext cx="123452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B2B2B"/>
                </a:solidFill>
                <a:latin typeface="Noto Sans SC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"/>
              </a:rPr>
              <a:t>ifr.org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1924050"/>
            <a:ext cx="460046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B2B2B"/>
                </a:solidFill>
                <a:latin typeface="Noto Sans SC"/>
              </a:rPr>
              <a:t>https://moderndiplomacy.eu/wp-content/uploads/2025/07/robots.jpg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114550"/>
            <a:ext cx="24638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B2B2B"/>
                </a:solidFill>
                <a:latin typeface="Noto Sans SC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"/>
              </a:rPr>
              <a:t>moderndiplomacy.eu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695575"/>
            <a:ext cx="554068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B2B2B"/>
                </a:solidFill>
                <a:latin typeface="Noto Sans SC"/>
              </a:rPr>
              <a:t>https://www.robot-magazine.fr/wp-content/uploads/2026/01/Neura-Robotics-1.jpg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2886075"/>
            <a:ext cx="265769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B2B2B"/>
                </a:solidFill>
                <a:latin typeface="Noto Sans SC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SC"/>
              </a:rPr>
              <a:t>www.robot-magazine.fr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