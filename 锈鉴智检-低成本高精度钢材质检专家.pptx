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9834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中国国际大学生创新大赛（2024）拟推荐项目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429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学生赛道（本科组）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「锈鉴智检」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5760720" y="2139696"/>
            <a:ext cx="114300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323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低成本高精度钢材质检专家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" y="31455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AA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让高质量质检普惠每一家中小工厂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078224"/>
            <a:ext cx="8229600" cy="10973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793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 · 专业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5537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广西科技师范学院</a:t>
            </a:r>
            <a:endParaRPr lang="en-US" sz="10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先进制造工程学院 · 智能制造工程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3474720" y="42793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 · 负责人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0" y="45537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锈鉴智检创新研发团队</a:t>
            </a:r>
            <a:endParaRPr lang="en-US" sz="10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负责人：谢宇｜成员：曹晓倩、伍锦琦、谢耀宽、何军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949440" y="42793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49440" y="45537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陈旭红、赖道辉</a:t>
            </a:r>
            <a:endParaRPr lang="en-US" sz="1030" dirty="0"/>
          </a:p>
        </p:txBody>
      </p:sp>
      <p:sp>
        <p:nvSpPr>
          <p:cNvPr id="17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41148" cy="122529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447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21792" y="18653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一页看懂"锈鉴智检"核心优势与千元级突破。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560320" y="1298448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4447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24912" y="18653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市场痛点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24912" y="22128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被忽视的97%中小钢企，面临高成本与高漏检。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4447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28032" y="18653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产品与技术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22128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光学成像源头创新 × 轻量化AI算法三级联动。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766560" y="1298448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14447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931152" y="18653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31152" y="22128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60亿存量蓝海，轻量化普惠赛道增速35%居首。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57200" y="2999232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21792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" y="3913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"硬件+软件+服务+租赁"四位一体盈利闭环。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2560320" y="2999232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724912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投资与财务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24912" y="3913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三级阶梯资金投入，投资回收期仅2-2.5年。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663440" y="2999232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828032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生产与风险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28032" y="3913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轻资产稳健落地，三级质控与全流程风险管控。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766560" y="2999232"/>
            <a:ext cx="192024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931152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团队与规划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31152" y="3913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智能制造学子领航，高校双导师全程护航。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项目概述｜千元级成本 · 万元级售价 · 十万元级效果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59536"/>
          </a:xfrm>
          <a:prstGeom prst="roundRect">
            <a:avLst>
              <a:gd name="adj" fmla="val 5851"/>
            </a:avLst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面向国内海量中小钢材企业，打造轻量化外挂式智能质检系统——无需改造产线、即装即用，用 AI 视觉替代人工肉眼，精准识别钢材表面早期锈蚀与端面微裂纹，让中小工厂用得起、用得好。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1920240" cy="1874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14016"/>
            <a:ext cx="45720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432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2962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锈蚀识别准确率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3291840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可精准捕获0.1mm肉眼难辨的早期点锈与微锈，在车间粉尘、震动等复杂工况下保持高稳定输出。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560320" y="2212848"/>
            <a:ext cx="1920240" cy="1874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414016"/>
            <a:ext cx="45720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4" name="Text 12"/>
          <p:cNvSpPr/>
          <p:nvPr/>
        </p:nvSpPr>
        <p:spPr>
          <a:xfrm>
            <a:off x="2724912" y="2432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4%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24912" y="2962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伪缺陷误检率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24912" y="3291840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依托12维几何与反光特征以及SVM二次甄别，完美剔除油污、灰尘、水印干扰，检出即为真缺陷。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4663440" y="2212848"/>
            <a:ext cx="1920240" cy="1874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414016"/>
            <a:ext cx="45720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432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8000元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28032" y="2962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单工位硬件成本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3291840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采用民用工业级器件集成与全国产化选型，硬件造价极低，彻底打破大型高端设备的价格壁垒。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766560" y="2212848"/>
            <a:ext cx="1920240" cy="1874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2414016"/>
            <a:ext cx="45720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2432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30%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31152" y="2962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综合部署成本占比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31152" y="3291840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整套系统落地价格仅为传统大型定制方案的三分之一，极大降低中小微企智能化改造门槛。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57200" y="4224528"/>
            <a:ext cx="8229600" cy="457200"/>
          </a:xfrm>
          <a:prstGeom prst="roundRect">
            <a:avLst>
              <a:gd name="adj" fmla="val 11000"/>
            </a:avLst>
          </a:prstGeom>
          <a:solidFill>
            <a:srgbClr val="E3F4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" y="4402836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核心价值——一套设备替代多道人工质检工序，降本增效即刻可见。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四大核心功能｜一套设备替代多道人工工序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26464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高精度早期锈蚀识别分级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捕捉 0.1mm 肉眼难辨的早期点锈、微锈；严格对标 GB/T 8923.1-2011 国标，按锈蚀面积占比与分布密度自动完成 A/B/C/D 等级判定；判定结果全程留痕，供需对账有据可依，消除等级争议。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686300" y="124358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7468" y="1426464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87468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2100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工业伪缺陷智能滤除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14900" y="190195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针对车间常见的油污、灰尘、水印、划痕等干扰，依托反光率差异与 12 维几何特征二次甄别；误检率控制在 4% 以内，检出缺陷无需人工复核，真正"减人"而非"人机双保险"。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980944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054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9626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端面微裂纹同步检测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345643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同一工位同步完成端面质检，"边缘提取初筛 + 深度学习复核"双重把关；可识别低至 0.05mm 的微裂纹并评估延伸趋势，杜绝隐性缺陷流入下道工序引发批量报废。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686300" y="279806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7468" y="2980944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87468" y="3054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2100" y="29626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质检数据可视化管理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14900" y="345643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每根钢材的检测图像、等级、缺陷位置自动归档，按批次生成多维质量报表；支持历史追溯与趋势分析，帮工厂把"质检数据"变成"工艺改进依据"，建立标准化数字质控闭环。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&amp; POLICY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政策东风 × 市场刚需｜智能化升级正当时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政策红利驱动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394960" y="1133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庞大市场体量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4663440" cy="2596896"/>
          </a:xfrm>
          <a:prstGeom prst="roundRect">
            <a:avLst>
              <a:gd name="adj" fmla="val 193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1444752"/>
            <a:ext cx="3291840" cy="2596896"/>
          </a:xfrm>
          <a:prstGeom prst="roundRect">
            <a:avLst>
              <a:gd name="adj" fmla="val 193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792224"/>
            <a:ext cx="274320" cy="27432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470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5568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国家纲领引导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0116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《质量强国建设纲要》《"十四五"智能制造发展规划》明确普及智能在线检测，发展轻量化、模块化智能质检装备，智能质检上升为国家战略。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13232" y="2596896"/>
            <a:ext cx="274320" cy="27432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6517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15568" y="2523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广西财政补助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281635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制造业智能化改造项目，按设备及软件实际投入的20%给予专项财政补助，直接降低企业采购成本。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13232" y="3401568"/>
            <a:ext cx="274320" cy="27432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456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5568" y="3328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柳州数字化券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62102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企业采购智能检测设备可抵扣30%采购费用，政策窗口期内采购意愿显著增强。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532120" y="1572768"/>
            <a:ext cx="36576" cy="42062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2" name="Text 20"/>
          <p:cNvSpPr/>
          <p:nvPr/>
        </p:nvSpPr>
        <p:spPr>
          <a:xfrm>
            <a:off x="5687568" y="14996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10亿吨+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59168" y="1536192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2024年全国粗钢年产量 / 海量检测基数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532120" y="2194560"/>
            <a:ext cx="36576" cy="42062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5" name="Text 23"/>
          <p:cNvSpPr/>
          <p:nvPr/>
        </p:nvSpPr>
        <p:spPr>
          <a:xfrm>
            <a:off x="5687568" y="212140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10万家+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59168" y="2157984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钢材加工贸易相关企业 / 中小微企业占比超90%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532120" y="2816352"/>
            <a:ext cx="36576" cy="42062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8" name="Text 26"/>
          <p:cNvSpPr/>
          <p:nvPr/>
        </p:nvSpPr>
        <p:spPr>
          <a:xfrm>
            <a:off x="5687568" y="274320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近60亿元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059168" y="2779776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2024钢材智能质检市场 / 细分赛道空间广阔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532120" y="3438144"/>
            <a:ext cx="36576" cy="42062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1" name="Text 29"/>
          <p:cNvSpPr/>
          <p:nvPr/>
        </p:nvSpPr>
        <p:spPr>
          <a:xfrm>
            <a:off x="5687568" y="336499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35%/年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059168" y="34015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轻量化质检方案增速 / 全行业增长最快领域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457200" y="4315968"/>
            <a:ext cx="8229600" cy="347472"/>
          </a:xfrm>
          <a:prstGeom prst="roundRect">
            <a:avLst>
              <a:gd name="adj" fmla="val 14474"/>
            </a:avLst>
          </a:prstGeom>
          <a:solidFill>
            <a:srgbClr val="12283D"/>
          </a:solidFill>
          <a:ln/>
        </p:spPr>
      </p:sp>
      <p:sp>
        <p:nvSpPr>
          <p:cNvPr id="34" name="Shape 32"/>
          <p:cNvSpPr/>
          <p:nvPr/>
        </p:nvSpPr>
        <p:spPr>
          <a:xfrm>
            <a:off x="603504" y="443941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3159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政策真金白银 + 海量中小钢企 = 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智能质检需求加速释放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痛点①｜人工质检：漏检高 · 标准乱 · 成本贵 · 难追溯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26464"/>
            <a:ext cx="365760" cy="36576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漏检率高达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30%-40%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早期微锈、点锈与端面裂纹极其细微，肉眼难以辨识；质检员长时间目视作业极易视觉疲劳，漏检率随工时持续攀升；残次品流入后续生产，轻则返工、重则整批报废。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686300" y="124358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7468" y="1426464"/>
            <a:ext cx="365760" cy="36576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7468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2100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标准不一争议多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14900" y="190195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锈蚀等级判定高度依赖质检员个人经验与当天状态，同一批钢材不同人判出不同等级；供需双方常因等级认定分歧产生退货纠纷，企业质量口碑受损。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980944"/>
            <a:ext cx="365760" cy="36576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054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9626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人力成本持续攀升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345643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一名专职质检员年用工成本高达8-12万元；质检岗位枯燥、流动性大，中小工厂"招人难、留人更难"；订单旺季临时加人，新手误判率更高，形成恶性循环。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686300" y="2798064"/>
            <a:ext cx="4000500" cy="146304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7468" y="2980944"/>
            <a:ext cx="365760" cy="36576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7468" y="3054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2100" y="29626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数据零散无法追溯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14900" y="3456432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纸质记录易丢失、难统计，出现质量问题无法按批次追溯根源；管理层看不到质量趋势，工艺改进只能凭经验拍脑袋，精细化管理无从谈起。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57200" y="4334256"/>
            <a:ext cx="8229600" cy="347472"/>
          </a:xfrm>
          <a:prstGeom prst="roundRect">
            <a:avLst>
              <a:gd name="adj" fmla="val 14474"/>
            </a:avLst>
          </a:prstGeom>
          <a:solidFill>
            <a:srgbClr val="FBECEA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457700"/>
            <a:ext cx="100584" cy="100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33425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四大短板叠加 = 中小钢企质检数字化全面卡壳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 02 &amp;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痛点②③｜传统设备"买不起、用不好"，97%市场仍空白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029200" cy="3090672"/>
          </a:xfrm>
          <a:prstGeom prst="roundRect">
            <a:avLst>
              <a:gd name="adj" fmla="val 162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35024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984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传统智能质检"三大门槛"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773936"/>
            <a:ext cx="274320" cy="27432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造价昂贵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202996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大型钢厂定制化方案单工位5-10万元，后期运维另计，中小厂一年利润买不起一套设备。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85800" y="2560320"/>
            <a:ext cx="274320" cy="27432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151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25237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部署笨重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281635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需改造产线、停产调试数天，与中小厂"多批次、小批量"的柔性生产节奏严重冲突。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85800" y="3346704"/>
            <a:ext cx="274320" cy="274320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015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3310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干扰误检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3602736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传统单光源无法区分油污、水印与真实锈蚀，误报频繁，检出后仍需人工二次复核，省了人又没完全省。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669280" y="1170432"/>
            <a:ext cx="3017520" cy="3090672"/>
          </a:xfrm>
          <a:prstGeom prst="roundRect">
            <a:avLst>
              <a:gd name="adj" fmla="val 1667"/>
            </a:avLst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4264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3%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669280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A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中小钢企智能质检渗透率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914400" cy="13716"/>
          </a:xfrm>
          <a:prstGeom prst="rect">
            <a:avLst/>
          </a:prstGeom>
          <a:solidFill>
            <a:srgbClr val="2A4A66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2724912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20" dirty="0">
                <a:solidFill>
                  <a:srgbClr val="C9D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超90%中小微钢企仍停留在纯人工质检阶段。"高端设备买不起、复杂设备用不好、低价设备精度差"是普遍困境——他们不是不想升级，是市场上没有为他们做的产品。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3750"/>
            </a:avLst>
          </a:prstGeom>
          <a:solidFill>
            <a:srgbClr val="1228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448556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315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供需严重错配 =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我们的精准切入机会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我们的答案｜轻量化外挂式智能质检系统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603504"/>
          </a:xfrm>
          <a:prstGeom prst="roundRect">
            <a:avLst>
              <a:gd name="adj" fmla="val 8333"/>
            </a:avLst>
          </a:prstGeom>
          <a:solidFill>
            <a:srgbClr val="E3F4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打破行业"只优化算法"的固有思路，从</a:t>
            </a:r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光学成像源头创新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，结合轻量化 AI 算法，实现</a:t>
            </a:r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低成本、高精度、易落地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2621585" cy="1938528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3672" y="2084832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9" name="Text 7"/>
          <p:cNvSpPr/>
          <p:nvPr/>
        </p:nvSpPr>
        <p:spPr>
          <a:xfrm>
            <a:off x="1493672" y="22037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2558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零改造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090672"/>
            <a:ext cx="225582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跨装于现有输送带上方，不改动任何原有生产设备与产线布局，220V常规供电即插即用。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261665" y="1901952"/>
            <a:ext cx="2621585" cy="1938528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8137" y="2084832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4" name="Text 12"/>
          <p:cNvSpPr/>
          <p:nvPr/>
        </p:nvSpPr>
        <p:spPr>
          <a:xfrm>
            <a:off x="4298137" y="22037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44545" y="2743200"/>
            <a:ext cx="22558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快部署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44545" y="3090672"/>
            <a:ext cx="225582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龙门式可调支架+软件参数化调试，2小时完成全套安装、标定与上线，全程不停产。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065215" y="1901952"/>
            <a:ext cx="2621585" cy="1938528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01688" y="2084832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7101688" y="22037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48095" y="2743200"/>
            <a:ext cx="22558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广适配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48095" y="3090672"/>
            <a:ext cx="225582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光源角度、亮度软件可调，一套设备覆盖板材、型材等多种钢材品类与不同车间光照环境。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0577"/>
            </a:avLst>
          </a:prstGeom>
          <a:solidFill>
            <a:srgbClr val="12283D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" y="434797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龙门式外挂支架 + 软件参数化调试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板材、型材等多品类钢材全覆盖，全程不停产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TECH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核心技术①｜多角度强光辅助成像——从光学源头创新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4754880" cy="3054096"/>
          </a:xfrm>
          <a:prstGeom prst="roundRect">
            <a:avLst>
              <a:gd name="adj" fmla="val 164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16736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技术原理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47088"/>
            <a:ext cx="54864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1737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对称补光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7824" y="2011680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搭载4-6组LED条形光源，以15°-45°倾角对钢材表面差异化补光。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651760"/>
            <a:ext cx="54864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542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反光差异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7824" y="2816352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粗糙锈蚀区产生漫反射呈暗斑，光滑基材呈均匀镜面反射，油污水印反光特征又与锈蚀不同。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85800" y="3456432"/>
            <a:ext cx="54864" cy="38404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3467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特征显形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824" y="3621024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对比多角度图像，将肉眼难辨的0.1mm早期点锈转化为高对比度图像特征。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394960" y="1152144"/>
            <a:ext cx="3291840" cy="3054096"/>
          </a:xfrm>
          <a:prstGeom prst="roundRect">
            <a:avLst>
              <a:gd name="adj" fmla="val 164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96128" y="1316736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1261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四大优势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3560" y="1773936"/>
            <a:ext cx="54864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1" name="Text 19"/>
          <p:cNvSpPr/>
          <p:nvPr/>
        </p:nvSpPr>
        <p:spPr>
          <a:xfrm>
            <a:off x="5797296" y="1700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检测下限极低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97296" y="1938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灵敏度较传统方案提升3倍以上，微米级早期锈蚀无处遁形。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623560" y="2377440"/>
            <a:ext cx="54864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4" name="Text 22"/>
          <p:cNvSpPr/>
          <p:nvPr/>
        </p:nvSpPr>
        <p:spPr>
          <a:xfrm>
            <a:off x="5797296" y="2304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抗干扰能力强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97296" y="2542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从光学层区分锈蚀与油污/水印/灰尘，大幅降低后端算法压力。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623560" y="2980944"/>
            <a:ext cx="54864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7" name="Text 25"/>
          <p:cNvSpPr/>
          <p:nvPr/>
        </p:nvSpPr>
        <p:spPr>
          <a:xfrm>
            <a:off x="5797296" y="2907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场景适配广泛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97296" y="31455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软件调节光源参数，适配热轧板、冷轧板、型材等多种表面。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623560" y="3584448"/>
            <a:ext cx="54864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0" name="Text 28"/>
          <p:cNvSpPr/>
          <p:nvPr/>
        </p:nvSpPr>
        <p:spPr>
          <a:xfrm>
            <a:off x="5797296" y="3511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硬件成本低廉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97296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民用工业级LED模组，无需昂贵特种光学设备。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57200" y="4315968"/>
            <a:ext cx="8229600" cy="347472"/>
          </a:xfrm>
          <a:prstGeom prst="roundRect">
            <a:avLst>
              <a:gd name="adj" fmla="val 14474"/>
            </a:avLst>
          </a:prstGeom>
          <a:solidFill>
            <a:srgbClr val="1228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03504" y="443941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3159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灵敏度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×3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E7C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|　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抗干扰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E7C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|　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光学成本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TECH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核心技术②｜"增强 → 分割 → 滤伪"三级联动算法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21585" cy="28346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35024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1228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3502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700784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 前置图像增强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22558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去噪矫正 · 多帧融合 · 直方图均衡化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40080" y="2871216"/>
            <a:ext cx="22558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解决车间强光反光、画面模糊、对比度低问题，为检测提供高质量图像输入；运算量小，边缘端实时运行。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261665" y="1170432"/>
            <a:ext cx="2621585" cy="28346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4545" y="1335024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12283D"/>
          </a:solidFill>
          <a:ln/>
        </p:spPr>
      </p:sp>
      <p:sp>
        <p:nvSpPr>
          <p:cNvPr id="13" name="Text 11"/>
          <p:cNvSpPr/>
          <p:nvPr/>
        </p:nvSpPr>
        <p:spPr>
          <a:xfrm>
            <a:off x="3444545" y="133502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44545" y="1700784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第二级 改进 YOLOv8-seg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4545" y="2304288"/>
            <a:ext cx="22558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小目标检测头 · CBAM 注意力 · Ghost 卷积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3444545" y="2871216"/>
            <a:ext cx="22558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针对点锈、微裂纹等极小目标专项优化；参数量减少 35%、推理速度提升 40%，低成本网关即可流畅运行。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065215" y="1170432"/>
            <a:ext cx="2621585" cy="28346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8095" y="1335024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12283D"/>
          </a:solidFill>
          <a:ln/>
        </p:spPr>
      </p:sp>
      <p:sp>
        <p:nvSpPr>
          <p:cNvPr id="19" name="Text 17"/>
          <p:cNvSpPr/>
          <p:nvPr/>
        </p:nvSpPr>
        <p:spPr>
          <a:xfrm>
            <a:off x="6248095" y="133502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48095" y="1700784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第三级 伪缺陷智能滤除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8095" y="2304288"/>
            <a:ext cx="22558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维特征提取 · SVM 二次甄别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248095" y="2871216"/>
            <a:ext cx="22558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提取面积、灰度、反光率、纹理熵等特征，结合自建工业伪缺陷样本库精准剔除油污划痕干扰，误检率 ≤ 4%。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140964" y="233172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8172" y="233172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169664"/>
            <a:ext cx="8229600" cy="475488"/>
          </a:xfrm>
          <a:prstGeom prst="roundRect">
            <a:avLst>
              <a:gd name="adj" fmla="val 10577"/>
            </a:avLst>
          </a:prstGeom>
          <a:solidFill>
            <a:srgbClr val="1228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357116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6966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全流程检测延迟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100ms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，完美跟上高速产线节奏，兼顾高精度与计算速度。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EXTENDED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不止于锈｜国标等级判定 + 端面微裂纹检测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00500" cy="2999232"/>
          </a:xfrm>
          <a:prstGeom prst="roundRect">
            <a:avLst>
              <a:gd name="adj" fmla="val 167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426464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3716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锈蚀等级智能判定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1883664"/>
            <a:ext cx="34884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严格对标GB/T 8923.1-2011国家标准，基于像素级分割结果精准计算锈蚀面积占比、分布密度与形态特征；自动完成A/B/C/D四级判定，输出带依据的判定报告；支持企业按客户要求自定义判定阈值，对接不同采购标准。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13232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8923.1-2011 国标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1920240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A/B/C/D 四级判定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127248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阈值可自定义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686300" y="1170432"/>
            <a:ext cx="4000500" cy="2999232"/>
          </a:xfrm>
          <a:prstGeom prst="roundRect">
            <a:avLst>
              <a:gd name="adj" fmla="val 167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05756" y="1426464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7" name="Text 15"/>
          <p:cNvSpPr/>
          <p:nvPr/>
        </p:nvSpPr>
        <p:spPr>
          <a:xfrm>
            <a:off x="5088636" y="13716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端面微裂纹检测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42332" y="1883664"/>
            <a:ext cx="34884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采用"边缘提取初筛 + 深度学习复核"融合方案：先由传统视觉算法过滤氧化皮、加工划痕等干扰，再由轻量化深度学习模型精准判定；可识别低至0.05mm的微裂纹，同步估算裂纹长度与延伸趋势，提前拦截断裂风险。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942332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2332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0.05mm 微裂纹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149340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9340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初筛 + 深度学习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356348" y="3666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6348" y="36667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断裂风险提前拦截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系统组成 × 快速部署｜三层架构 · 2 小时上线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4206240" cy="3035808"/>
          </a:xfrm>
          <a:prstGeom prst="roundRect">
            <a:avLst>
              <a:gd name="adj" fmla="val 165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16736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三层系统架构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682496"/>
            <a:ext cx="3803904" cy="694944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64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硬件层（感知载体）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2996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多角度可调 LED 光源模组 · 高清工业面阵相机 · 国产化边缘计算网关 · 声光报警模块。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450592"/>
            <a:ext cx="3803904" cy="694944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软件层（智能核心）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9806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高精度算法引擎 · 全量数据管理系统 · 可视化操作平台，检测、判定、存储、报表一站式。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3218688"/>
            <a:ext cx="3803904" cy="694944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00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应用服务层（价值延伸）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现场部署调试 · 人员培训 · 算法迭代升级 · 定制开发 · 质量数据分析咨询。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152144"/>
            <a:ext cx="4297680" cy="3035808"/>
          </a:xfrm>
          <a:prstGeom prst="roundRect">
            <a:avLst>
              <a:gd name="adj" fmla="val 1657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7488" y="1316736"/>
            <a:ext cx="64008" cy="25603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2618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小时快部署 · 七步自动化流程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74920" y="15910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龙门架跨装输送带上方 1.2–1.5 米，220V 供电、全程不停产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074920" y="1856232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89280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94960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传感器感应钢材到位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074920" y="2185416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2219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多角度分时采图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074920" y="2514600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55117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4960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图像预处理增强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074920" y="2843784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288036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9496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像素级分割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074920" y="3172968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32095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94960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滤伪缺陷 + 国标定级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074920" y="3502152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353872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94960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合格放行 / 声光预警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074920" y="3831336"/>
            <a:ext cx="219456" cy="21945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38679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9496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数据存档可追溯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457200" y="4315968"/>
            <a:ext cx="8229600" cy="347472"/>
          </a:xfrm>
          <a:prstGeom prst="roundRect">
            <a:avLst>
              <a:gd name="adj" fmla="val 14474"/>
            </a:avLst>
          </a:prstGeom>
          <a:solidFill>
            <a:srgbClr val="12283D"/>
          </a:solidFill>
          <a:ln/>
        </p:spPr>
      </p:sp>
      <p:sp>
        <p:nvSpPr>
          <p:cNvPr id="43" name="Shape 41"/>
          <p:cNvSpPr/>
          <p:nvPr/>
        </p:nvSpPr>
        <p:spPr>
          <a:xfrm>
            <a:off x="603504" y="443941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3159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全程检测延迟 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100ms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，零门槛融入现有流水线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FEASIBILITY &amp; USABILITY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为中小工厂而生｜装得上 · 用得起 · 管得好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2816" y="1335024"/>
            <a:ext cx="530352" cy="53035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1502816" y="1463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装得上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14016"/>
            <a:ext cx="22558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模块化外挂设计，不改变产线布局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单工位占地 &lt; 0.5㎡，普通电工即可完成接线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机械旋钮粗调 + 软件细调，无需专业工程师驻场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261665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7281" y="1335024"/>
            <a:ext cx="530352" cy="53035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2" name="Text 10"/>
          <p:cNvSpPr/>
          <p:nvPr/>
        </p:nvSpPr>
        <p:spPr>
          <a:xfrm>
            <a:off x="4307281" y="1463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4545" y="1975104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4545" y="2414016"/>
            <a:ext cx="22558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单工位硬件成本 ≤ 8000 元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整套落地价仅为传统方案 1/3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叠加广西 20% 补助 + 柳州 30% 券，投入再降近半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065215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0832" y="1335024"/>
            <a:ext cx="530352" cy="53035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7" name="Text 15"/>
          <p:cNvSpPr/>
          <p:nvPr/>
        </p:nvSpPr>
        <p:spPr>
          <a:xfrm>
            <a:off x="7110832" y="1463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8095" y="1975104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管得好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48095" y="2414016"/>
            <a:ext cx="22558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批次报表 + 质量趋势图自动生成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远程运维 + 在线算法升级，故障远程诊断</a:t>
            </a:r>
            <a:endParaRPr lang="en-US" sz="94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数据本地存储，工厂数据资产完全自主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402336"/>
          </a:xfrm>
          <a:prstGeom prst="roundRect">
            <a:avLst>
              <a:gd name="adj" fmla="val 12500"/>
            </a:avLst>
          </a:prstGeom>
          <a:solidFill>
            <a:srgbClr val="1228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" y="4375404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245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广西 20% 技改补助 + 柳州 30% 数字化券 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客户实际投入再降近半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市场空间｜60 亿存量 → 200 亿未来，轻量化赛道增速第一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市场容量跨越增长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133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市场结构三维度拆解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47472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9344"/>
            <a:ext cx="45720" cy="56692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5910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60 亿元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年国内钢材智能质检细分市场规模。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47472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05456"/>
            <a:ext cx="45720" cy="56692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871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 200 亿元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8368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 2030 年市场规模，六年实现 3 倍+ 暴涨。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347472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01568"/>
            <a:ext cx="45720" cy="566928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 400 亿元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8368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中小钢企设备更新 + 新增需求（超 200 万套），未来五年最核心增量。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114800" y="1481328"/>
            <a:ext cx="502920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按产品类型分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0" y="184708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高端定制 40%（难下沉）｜中端 35%（精度有限）｜</a:t>
            </a:r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轻量化普惠 25%，增速 35% 最快——我们在这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114800" y="2377440"/>
            <a:ext cx="502920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按技术路径分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0" y="2743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传统机器视觉 55%（增速放缓）｜</a:t>
            </a:r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智能视觉 45%，正快速替代成为绝对主流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114800" y="3273552"/>
            <a:ext cx="502920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按应用场景分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0" y="363931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大型钢厂在线质检 40%（趋饱和）｜</a:t>
            </a:r>
            <a:pPr algn="l"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中小厂来料质检 60%，需求分散旺盛、竞争薄弱——我们聚焦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3750"/>
            </a:avLst>
          </a:prstGeom>
          <a:solidFill>
            <a:srgbClr val="E3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03504" y="4448556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315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大型钢企改造趋近饱和，占行业 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55%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体量的中小微钢企仍处蓝海爆发前期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竞争格局｜三类玩家各有短板，专属方案存在空白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20624"/>
          </a:xfrm>
          <a:prstGeom prst="roundRect">
            <a:avLst>
              <a:gd name="adj" fmla="val 11957"/>
            </a:avLst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竞争主体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11887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主要优势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32120" y="11887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明显短板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922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头部视觉厂商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665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（海康威视、大恒图像）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450592" y="18105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品牌影响力强、技术成熟度高、产品线布局全面。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559552" y="18105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聚焦中高端定制高价方案，单工位5-10万，忽视中小厂轻量化需求。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8229600" cy="731520"/>
          </a:xfrm>
          <a:prstGeom prst="roundRect">
            <a:avLst>
              <a:gd name="adj" fmla="val 6875"/>
            </a:avLst>
          </a:prstGeom>
          <a:solidFill>
            <a:srgbClr val="F7FAFC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968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垂直AI创业公司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28712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450592" y="26151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算法针对性强、检测精度高、技术迭代速度快。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559552" y="261518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硬件成本高昂、部署过程复杂，仅服务大型企业，不具备基层下沉能力。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822960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地方小型设备厂商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67588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2450592" y="341985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产品售价低廉、本地化响应极其迅速。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5559552" y="341985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技术积累薄弱、检测精度差、系统稳定性不足，完全无算法持续迭代能力。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57200" y="4041648"/>
            <a:ext cx="8229600" cy="603504"/>
          </a:xfrm>
          <a:prstGeom prst="roundRect">
            <a:avLst>
              <a:gd name="adj" fmla="val 8333"/>
            </a:avLst>
          </a:prstGeom>
          <a:solidFill>
            <a:srgbClr val="12283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9651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我们的位置：锈鉴智检——定位 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"高精度、低成本、快部署"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平衡点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433425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A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"高精度、低成本、快部署"三者兼得——当前行业高度分散、尚无绝对龙头，中小钢企专属质检方案存在明显市场空白，先发者将迅速建立区域标杆壁垒。</a:t>
            </a:r>
            <a:endParaRPr lang="en-US" sz="8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COMPETITIVE ADVANTAGES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四维壁垒｜技术 · 成本 · 部署 · 服务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53312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264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3350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1828800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独创多角度强光辅助成像，从光学源头突破行业瓶颈；配合三级联动算法，高反光、多污渍复杂工况下精度与抗干扰能力行业领先，</a:t>
            </a:r>
            <a:pPr algn="l"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0.1mm</a:t>
            </a:r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点锈、</a:t>
            </a:r>
            <a:pPr algn="l"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0.05mm</a:t>
            </a:r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裂纹稳定检出。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686300" y="1188720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7468" y="1353312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87468" y="14264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4668" y="13350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成本壁垒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05756" y="1828800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光学创新降低算力依赖，无需高端GPU；全国产化民用器件选型，单工位硬件 </a:t>
            </a:r>
            <a:pPr algn="l"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8000元</a:t>
            </a:r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，整套落地价仅为传统方案 </a:t>
            </a:r>
            <a:pPr algn="l"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1/3</a:t>
            </a:r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，中小厂一年省下的人工成本即可覆盖采购。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871216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9443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2852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部署壁垒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" y="3346704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模块化外挂设计，不改产线、不停产，</a:t>
            </a:r>
            <a:pPr algn="l"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全流程落地；参数化软件调试适配多品类钢材，同行定制方案需要数周的部署周期，我们当天上线。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686300" y="2706624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7468" y="2871216"/>
            <a:ext cx="365760" cy="365760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87468" y="29443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4668" y="2852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服务壁垒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05756" y="3346704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本地化团队深耕广西，上门安装调试、一对一操作培训、远程极速运维；比头部厂商标准化工单响应更贴身，比小厂商更有技术纵深，客户粘性转化为复购与转介绍。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8229600" cy="402336"/>
          </a:xfrm>
          <a:prstGeom prst="roundRect">
            <a:avLst>
              <a:gd name="adj" fmla="val 12500"/>
            </a:avLst>
          </a:prstGeom>
          <a:solidFill>
            <a:srgbClr val="1228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411980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26110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DA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传统方案单工位 5-10 万元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F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vs 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锈鉴智检 ≤ 2 万元级整体落地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CUSTOMERS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先标杆、后规模｜目标客户清晰可触达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21585" cy="292608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1960" y="1316736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1511960" y="143560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目标客户画像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225582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广西及周边（柳州、玉林、贵港、佛山辐射圈）中小型钢材加工、贸易企业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来料检验依赖人工、质量纠纷频发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有数字化意愿但预算有限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单厂 1-3 个质检工位，年质检人力成本 10-30 万元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261665" y="1170432"/>
            <a:ext cx="2621585" cy="292608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6425" y="1316736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2" name="Text 10"/>
          <p:cNvSpPr/>
          <p:nvPr/>
        </p:nvSpPr>
        <p:spPr>
          <a:xfrm>
            <a:off x="4316425" y="143560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4545" y="1938528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标杆打造路径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44545" y="2359152"/>
            <a:ext cx="225582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试点期免费 / 低价部署 3-5 家本地标杆客户，全程陪跑迭代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输出《质检数字化对比报告》：漏检率、人力成本、纠纷率前后对比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形成案例手册与视频素材，作为规模化推广的核心弹药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065215" y="1170432"/>
            <a:ext cx="2621585" cy="292608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9976" y="1316736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7" name="Text 15"/>
          <p:cNvSpPr/>
          <p:nvPr/>
        </p:nvSpPr>
        <p:spPr>
          <a:xfrm>
            <a:off x="7119976" y="143560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8095" y="1938528"/>
            <a:ext cx="22558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为什么能赢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48095" y="2359152"/>
            <a:ext cx="225582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政府补贴背书，降低决策门槛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7 天免费试用，先见效果再付费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设备钱 &lt; 一年质检员工资，算账即下单</a:t>
            </a:r>
            <a:endParaRPr lang="en-US" sz="9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本地化服务随叫随到，消除"买了没人管"顾虑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57200" y="4242816"/>
            <a:ext cx="8229600" cy="420624"/>
          </a:xfrm>
          <a:prstGeom prst="roundRect">
            <a:avLst>
              <a:gd name="adj" fmla="val 11957"/>
            </a:avLst>
          </a:prstGeom>
          <a:solidFill>
            <a:srgbClr val="1228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" y="4402836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42816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标杆案例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区域口碑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渠道复制，滚雪球式扩张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商业模式｜四位一体，"一次销售 + 长期服务"盈利闭环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4000500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61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硬件销售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40380" y="1271016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9" name="Text 7"/>
          <p:cNvSpPr/>
          <p:nvPr/>
        </p:nvSpPr>
        <p:spPr>
          <a:xfrm>
            <a:off x="3040380" y="127101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毛利约 40%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三档配置差异化定价（基础/标准/高级版），规模化采购+自主集成控成本，贡献基础收入与现金流。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686300" y="1152144"/>
            <a:ext cx="4000500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1298448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3" name="Text 11"/>
          <p:cNvSpPr/>
          <p:nvPr/>
        </p:nvSpPr>
        <p:spPr>
          <a:xfrm>
            <a:off x="4887468" y="1261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软件授权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1271016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127101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毛利超 80% · 利润主源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887468" y="166420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基础功能随硬件附赠，高级算法模块按年授权订阅，老客户续费8折，形成持续高粘性收入。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4000500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23744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增值服务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40380" y="2496312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3040380" y="24963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长期增长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58368" y="28895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部署调试按次、年度维保按年、定制开发按项目、质量数据咨询按次收费，粘住客户全生命周期。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686300" y="2377440"/>
            <a:ext cx="4000500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523744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5" name="Text 23"/>
          <p:cNvSpPr/>
          <p:nvPr/>
        </p:nvSpPr>
        <p:spPr>
          <a:xfrm>
            <a:off x="4887468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设备租赁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9480" y="2496312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24963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低门槛获客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887468" y="28895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按月收租、租期灵活，租满设备归客户，打消中小厂一次性投入顾虑，快速抢占市场。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57200" y="3712464"/>
            <a:ext cx="8229600" cy="566928"/>
          </a:xfrm>
          <a:prstGeom prst="roundRect">
            <a:avLst>
              <a:gd name="adj" fmla="val 8871"/>
            </a:avLst>
          </a:prstGeom>
          <a:solidFill>
            <a:srgbClr val="12283D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" y="386791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749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盈利闭环逻辑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40050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C9D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高性价比硬件引流获客 → 技术与服务赢得信任 → 软件订阅与增值服务提升粘性 → 可持续盈利与规模化发展。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MARKETING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营销策略｜产品 · 价格 · 渠道 · 推广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167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产品策略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7556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差异化定位"低成本、高精度、快部署"；基础/标准/高级三档矩阵覆盖不同预算客户；每6-12个月迭代升级，软件功能远程推送，硬件模块可加装，让客户"买后不落后"。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7468" y="13167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价格策略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87468" y="17556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渗透定价快速抢占细分市场；阶梯定价鼓励多工位批量采购；"硬件+软件+服务"组合优惠包；主动协助客户申报政府技改补贴与数字化券，降低实际支付价。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8346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渠道策略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327355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直销团队攻坚本地标杆客户；经销商下沉钢材市场与产业园区；与钢材贸易商、产线集成商捆绑销售分成；官网+短视频线上获客引流，四线并行。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686300" y="2706624"/>
            <a:ext cx="4000500" cy="1426464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7468" y="28346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Promotion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推广策略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87468" y="327355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3-5家标杆案例手册与对比视频；行业展会现场实机演示"肉眼vs设备"检出对比；7天免费试用零风险体验；老客户推荐裂变奖励，口碑滚雪球。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57200" y="4279392"/>
            <a:ext cx="8229600" cy="402336"/>
          </a:xfrm>
          <a:prstGeom prst="roundRect">
            <a:avLst>
              <a:gd name="adj" fmla="val 12500"/>
            </a:avLst>
          </a:prstGeom>
          <a:solidFill>
            <a:srgbClr val="12283D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4430268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7939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补贴借力 + 试用先行 + 标杆背书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低预算高效获客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产品矩阵｜三档配置 · 三级迭代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产品组合阶梯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46320" y="1133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研发迭代规划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420624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7556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8196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1645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9568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单相机 + 4 组光源，专注表面锈蚀检测——价格敏感的微型厂首选。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420624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26700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7340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28712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双相机 + 6 组光源，锈蚀 + 端面裂纹同步检测——主力走量款。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420624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35844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36484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3474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7856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加装 3D 模组 + 云端质量管理平台——面向多产线规模客户。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846320" y="1517904"/>
            <a:ext cx="429768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84064" y="17556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18196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59552" y="1645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59552" y="19568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优化核心算法、新增型材适配、完善报表功能，夯实标杆客户体验。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846320" y="2432304"/>
            <a:ext cx="429768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84064" y="26700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5084064" y="27340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59552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中期目标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59552" y="2871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自学习迭代、拓展管材/不锈钢版本、对接主流 ERP 系统。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4846320" y="3346704"/>
            <a:ext cx="429768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84064" y="3584448"/>
            <a:ext cx="347472" cy="34747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5084064" y="36484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9552" y="3474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长期目标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59552" y="37856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3D/多光谱融合检测、工业质检大模型、多语言版本布局海外。</a:t>
            </a:r>
            <a:endParaRPr lang="en-US" sz="9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实施路线｜六步走，从原型到国际化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（1-3月）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640080" y="1865376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核心团队组建完成，算法原型验证，关键指标实验室达标。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261665" y="1170432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4545" y="1298448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44545" y="1609344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（3-6月）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3444545" y="1865376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深入工厂需求调研，软硬件联调，完成首台工程样机。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065215" y="1170432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8095" y="1298448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8095" y="1609344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（6-12月）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248095" y="1865376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3-5家标杆客户免费部署，真实产线陪跑迭代，沉淀案例。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24912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035808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（12-18月）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产品标准化定型，渠道体系搭建，启动区域规模化销售。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3261665" y="2596896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4545" y="2724912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44545" y="3035808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（18-36月）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3444545" y="3291840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跨区域复制推广，品类拓展至管材/不锈钢，客户破200家。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065215" y="2596896"/>
            <a:ext cx="2621585" cy="1335024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8095" y="2724912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8095" y="3035808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（长期）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248095" y="3291840"/>
            <a:ext cx="2255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多金属质检平台化，布局东南亚市场，构建工业质检生态。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57200" y="4133088"/>
            <a:ext cx="8229600" cy="384048"/>
          </a:xfrm>
          <a:prstGeom prst="roundRect">
            <a:avLst>
              <a:gd name="adj" fmla="val 13095"/>
            </a:avLst>
          </a:prstGeom>
          <a:solidFill>
            <a:srgbClr val="EAF6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" y="4274820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1330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6-12 个月形成一个可验证里程碑，稳健高效推进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FINANCIAL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投资分析｜双向可行 + 阶梯投入 5 万 → 20 万 → 50 万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2621585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98448"/>
            <a:ext cx="438912" cy="43891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280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221924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≥ 95%、误检率 ≤ 4%，关键指标实验室验证达标；原型机完成组装联调；多角度成像 + 轻量化算法技术路线完全自主；模块化软硬件选型成熟，具备规模化生产条件。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1665" y="1152144"/>
            <a:ext cx="2621585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4545" y="1298448"/>
            <a:ext cx="438912" cy="43891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44545" y="13990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11473" y="1280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市场可行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62833" y="1901952"/>
            <a:ext cx="221924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60亿存量市场，中小企业渗透率不足 3%，蓝海明确；地方政策与补贴到位，客户采购意愿强；普惠赛道竞争薄弱，无强势对手；"设备钱 &lt; 一年质检员工资"，商业账算得过来。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65215" y="1152144"/>
            <a:ext cx="2621585" cy="219456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8095" y="1298448"/>
            <a:ext cx="438912" cy="438912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48095" y="13990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5023" y="12801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三阶段资金规划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6383" y="1901952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种子期　</a:t>
            </a:r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万元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6383" y="2130552"/>
            <a:ext cx="22558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算法研发、原型制作、标杆试点验证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266383" y="2395728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　</a:t>
            </a:r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万元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6383" y="2624328"/>
            <a:ext cx="22558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扩大产能、渠道建设、技术升级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266383" y="2889504"/>
            <a:ext cx="22558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　</a:t>
            </a:r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万元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6383" y="3118104"/>
            <a:ext cx="22558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品类拓展、生态平台与海内外布局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" y="3529584"/>
            <a:ext cx="8229600" cy="896112"/>
          </a:xfrm>
          <a:prstGeom prst="roundRect">
            <a:avLst>
              <a:gd name="adj" fmla="val 5612"/>
            </a:avLst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21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种子期 5 万元资金精准拆分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68496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研发费用 </a:t>
            </a:r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2.25 万 · 45%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0" y="3968496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硬件原型 </a:t>
            </a:r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1.25 万 · 25%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968496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试点市场 </a:t>
            </a:r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0.75 万 · 15%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3968496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人力办公 </a:t>
            </a:r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0.75 万 · 15%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FINANCIAL RETURN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回报预期｜回收期 2-2.5 年，五年营收 60 万 → 1040 万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2621585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22558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万元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1700784"/>
            <a:ext cx="22558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种子期净利润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58368" y="1956816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小规模验证商业与盈利模式顺畅跑通。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261665" y="1133856"/>
            <a:ext cx="2621585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2833" y="1261872"/>
            <a:ext cx="22558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80 万元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462833" y="1700784"/>
            <a:ext cx="22558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成长期累计净利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62833" y="1956816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标准化批量复制，开启规模化盈利。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065215" y="1133856"/>
            <a:ext cx="2621585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6383" y="1261872"/>
            <a:ext cx="22558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110 万元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266383" y="1700784"/>
            <a:ext cx="22558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成熟期年净利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266383" y="1956816"/>
            <a:ext cx="2255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平台化全面放量，获取稳健长效收益。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57200" y="24323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五年营收演进路径（单位：万元）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4023360"/>
            <a:ext cx="7680960" cy="1371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3950208"/>
            <a:ext cx="640080" cy="73152"/>
          </a:xfrm>
          <a:prstGeom prst="roundRect">
            <a:avLst>
              <a:gd name="adj" fmla="val 37500"/>
            </a:avLst>
          </a:prstGeom>
          <a:solidFill>
            <a:srgbClr val="9FC1D4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712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2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3858768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6F9AB8"/>
          </a:solidFill>
          <a:ln/>
        </p:spPr>
      </p:sp>
      <p:sp>
        <p:nvSpPr>
          <p:cNvPr id="23" name="Text 21"/>
          <p:cNvSpPr/>
          <p:nvPr/>
        </p:nvSpPr>
        <p:spPr>
          <a:xfrm>
            <a:off x="2514600" y="36210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2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06040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3657600"/>
            <a:ext cx="640080" cy="365760"/>
          </a:xfrm>
          <a:prstGeom prst="roundRect">
            <a:avLst>
              <a:gd name="adj" fmla="val 7500"/>
            </a:avLst>
          </a:prstGeom>
          <a:solidFill>
            <a:srgbClr val="40759B"/>
          </a:solidFill>
          <a:ln/>
        </p:spPr>
      </p:sp>
      <p:sp>
        <p:nvSpPr>
          <p:cNvPr id="26" name="Text 24"/>
          <p:cNvSpPr/>
          <p:nvPr/>
        </p:nvSpPr>
        <p:spPr>
          <a:xfrm>
            <a:off x="4069080" y="34198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2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60520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3383280"/>
            <a:ext cx="640080" cy="640080"/>
          </a:xfrm>
          <a:prstGeom prst="roundRect">
            <a:avLst>
              <a:gd name="adj" fmla="val 4286"/>
            </a:avLst>
          </a:prstGeom>
          <a:solidFill>
            <a:srgbClr val="1E5078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3145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2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15000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69480" y="3072384"/>
            <a:ext cx="640080" cy="950976"/>
          </a:xfrm>
          <a:prstGeom prst="roundRect">
            <a:avLst>
              <a:gd name="adj" fmla="val 4286"/>
            </a:avLst>
          </a:prstGeom>
          <a:solidFill>
            <a:srgbClr val="0E325A"/>
          </a:solidFill>
          <a:ln/>
        </p:spPr>
      </p:sp>
      <p:sp>
        <p:nvSpPr>
          <p:cNvPr id="32" name="Text 30"/>
          <p:cNvSpPr/>
          <p:nvPr/>
        </p:nvSpPr>
        <p:spPr>
          <a:xfrm>
            <a:off x="7178040" y="2834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2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1040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9480" y="4078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370832"/>
            <a:ext cx="8229600" cy="310896"/>
          </a:xfrm>
          <a:prstGeom prst="roundRect">
            <a:avLst>
              <a:gd name="adj" fmla="val 16176"/>
            </a:avLst>
          </a:prstGeom>
          <a:solidFill>
            <a:srgbClr val="E3F4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" y="4475988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37083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投资回收期仅 2-2.5 年，五年实现营收十七倍跨越！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&amp; QUALITY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生产管理｜轻资产 · 强质控 · 全生命周期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16736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轻资产布局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221924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以组装集成与测试为主，核心零部件外采，不自建重资产产线；初期依托学校实验室与孵化基地完成小批量生产；中期在柳州/玉林设区域组装中心，贴近客户、降低物流与响应成本。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261665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4545" y="1316736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2" name="Text 10"/>
          <p:cNvSpPr/>
          <p:nvPr/>
        </p:nvSpPr>
        <p:spPr>
          <a:xfrm>
            <a:off x="3444545" y="14173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11473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三级质控管控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62833" y="1975104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5" name="Text 13"/>
          <p:cNvSpPr/>
          <p:nvPr/>
        </p:nvSpPr>
        <p:spPr>
          <a:xfrm>
            <a:off x="3609137" y="19202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来料检验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09137" y="2157984"/>
            <a:ext cx="20546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核心器件入库全检。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62833" y="2724912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8" name="Text 16"/>
          <p:cNvSpPr/>
          <p:nvPr/>
        </p:nvSpPr>
        <p:spPr>
          <a:xfrm>
            <a:off x="3609137" y="26700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过程检验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09137" y="2907792"/>
            <a:ext cx="20546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组装关键工序双人复核。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62833" y="3474720"/>
            <a:ext cx="45720" cy="2743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1" name="Text 19"/>
          <p:cNvSpPr/>
          <p:nvPr/>
        </p:nvSpPr>
        <p:spPr>
          <a:xfrm>
            <a:off x="3609137" y="34198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出厂检验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09137" y="3657600"/>
            <a:ext cx="20546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每台设备完成 </a:t>
            </a:r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小时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连续运行测试方可发货，确保到厂即稳定运行。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65215" y="1170432"/>
            <a:ext cx="2621585" cy="290779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8095" y="1316736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25" name="Text 23"/>
          <p:cNvSpPr/>
          <p:nvPr/>
        </p:nvSpPr>
        <p:spPr>
          <a:xfrm>
            <a:off x="6248095" y="14173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5023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全生命周期闭环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6383" y="1883664"/>
            <a:ext cx="22192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标准接口设计支持旧设备升级，以旧换新政策促进迭代复购；上门安装培训 + 定期主动回访，全程无忧；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266383" y="3291840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6383" y="329184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旧设备可升级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473391" y="3291840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3391" y="329184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上门安装培训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266383" y="3694176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6383" y="369417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以旧换新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473391" y="3694176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3391" y="369417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研发·服务闭环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57200" y="4242816"/>
            <a:ext cx="8229600" cy="402336"/>
          </a:xfrm>
          <a:prstGeom prst="roundRect">
            <a:avLst>
              <a:gd name="adj" fmla="val 12500"/>
            </a:avLst>
          </a:prstGeom>
          <a:solidFill>
            <a:srgbClr val="12283D"/>
          </a:solidFill>
          <a:ln/>
        </p:spPr>
      </p:sp>
      <p:sp>
        <p:nvSpPr>
          <p:cNvPr id="37" name="Shape 35"/>
          <p:cNvSpPr/>
          <p:nvPr/>
        </p:nvSpPr>
        <p:spPr>
          <a:xfrm>
            <a:off x="603504" y="4393692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24281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轻资产模式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低固定投入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强抗风险能力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风险可控｜六大风险 · 六项对策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35024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4128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技术迭代风险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60934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每年营收15%-20%投入研发，6-12个月快速迭代，保持技术绝对领先地位。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686300" y="1170432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9180" y="1335024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9180" y="138988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53228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市场竞争风险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3228" y="160934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深耕中小钢企细分场景，以标杆案例与服务口碑构筑坚实的区域品牌壁垒。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450592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054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政策变动风险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7249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紧跟政策导向调整申报策略，持续提升产品本体价值，降低对地方补贴依赖。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686300" y="2286000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9180" y="2450592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9180" y="25054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3228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需求变化风险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3228" y="27249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采用模块化软硬件架构，快速响应客户定制需求，小步快跑验证新品类。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57200" y="3401568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566160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210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4128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供应链风险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384048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核心零部件维持2-3家供应商备选，签订长协锁价锁产能，常备安全库存。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686300" y="3401568"/>
            <a:ext cx="400050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9180" y="3566160"/>
            <a:ext cx="292608" cy="292608"/>
          </a:xfrm>
          <a:prstGeom prst="ellipse">
            <a:avLst/>
          </a:prstGeom>
          <a:solidFill>
            <a:srgbClr val="FBECEA"/>
          </a:solidFill>
          <a:ln w="13970">
            <a:solidFill>
              <a:srgbClr val="F2C9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9180" y="36210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3228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财务风险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3228" y="384048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推行全面预算管理，坚持轻资产运营，利用硬件销售保现金流，严控账期。</a:t>
            </a:r>
            <a:endParaRPr lang="en-US" sz="9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&amp; ADVISORS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团队组织｜能力互补 · 结构合理 · 导师护航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932688"/>
          </a:xfrm>
          <a:prstGeom prst="roundRect">
            <a:avLst>
              <a:gd name="adj" fmla="val 5392"/>
            </a:avLst>
          </a:prstGeom>
          <a:solidFill>
            <a:srgbClr val="EAF6F7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07592"/>
            <a:ext cx="621792" cy="621792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17320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2768" y="129844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谢宇（项目总负责人）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72768" y="1645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统筹战略规划、技术决策与团队管理｜精通 AutoCAD、UG NX 软件设计，多次斩获 AI 创新大赛校级一等奖。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1920240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" y="2359152"/>
            <a:ext cx="475488" cy="475488"/>
          </a:xfrm>
          <a:prstGeom prst="ellipse">
            <a:avLst/>
          </a:prstGeom>
          <a:solidFill>
            <a:srgbClr val="F0F6F8"/>
          </a:solidFill>
          <a:ln w="13970">
            <a:solidFill>
              <a:srgbClr val="CFE8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24597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伍锦琦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63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技术研发 / 市场运营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12648" y="3438144"/>
            <a:ext cx="1609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精通 Python 与深度学习算法，专注缺陷识别模型研发，逻辑严密、执行力强。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560320" y="2231136"/>
            <a:ext cx="1920240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82696" y="2359152"/>
            <a:ext cx="475488" cy="475488"/>
          </a:xfrm>
          <a:prstGeom prst="ellipse">
            <a:avLst/>
          </a:prstGeom>
          <a:solidFill>
            <a:srgbClr val="F0F6F8"/>
          </a:solidFill>
          <a:ln w="13970">
            <a:solidFill>
              <a:srgbClr val="CFE8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24597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谢耀宽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163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硬件工程 / 项目执行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715768" y="3438144"/>
            <a:ext cx="1609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机电工程基础扎实，擅长设备硬件集成与现场联调，工程实践经验突出。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663440" y="2231136"/>
            <a:ext cx="1920240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85816" y="2359152"/>
            <a:ext cx="475488" cy="475488"/>
          </a:xfrm>
          <a:prstGeom prst="ellipse">
            <a:avLst/>
          </a:prstGeom>
          <a:solidFill>
            <a:srgbClr val="F0F6F8"/>
          </a:solidFill>
          <a:ln w="13970">
            <a:solidFill>
              <a:srgbClr val="CFE8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5816" y="24597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曹晓倩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163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人力行政经理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818888" y="3438144"/>
            <a:ext cx="1609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沟通协调能力优秀，文字功底扎实，精通团队行政组织与后勤综合保障。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766560" y="2231136"/>
            <a:ext cx="1920240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8936" y="2359152"/>
            <a:ext cx="475488" cy="475488"/>
          </a:xfrm>
          <a:prstGeom prst="ellipse">
            <a:avLst/>
          </a:prstGeom>
          <a:solidFill>
            <a:srgbClr val="F0F6F8"/>
          </a:solidFill>
          <a:ln w="13970">
            <a:solidFill>
              <a:srgbClr val="CFE8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88936" y="24597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何军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163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B7A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财务总监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922008" y="3438144"/>
            <a:ext cx="1609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严谨细致，精通项目成本核算、财务风险控制与资金规划精细化管理。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57200" y="4169664"/>
            <a:ext cx="8229600" cy="502920"/>
          </a:xfrm>
          <a:prstGeom prst="roundRect">
            <a:avLst>
              <a:gd name="adj" fmla="val 10000"/>
            </a:avLst>
          </a:prstGeom>
          <a:solidFill>
            <a:srgbClr val="12283D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" y="4315968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2062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 / 顾问团队：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陈旭红、赖道辉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446227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AA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高级工程师、南航工学硕士坐镇，工业项目经验丰富——为团队提供实验室场地、关键技术攻关及产业资源全面支持。</a:t>
            </a:r>
            <a:endParaRPr lang="en-US" sz="8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DNA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为什么是我们？四大团队基因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00500" cy="1353312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1673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350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目标一致 · 使命驱动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755648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团队成员同专业同班级，因"用智能技术赋能中小制造"的共同愿景组队；目标高度一致，分工不分家，关键时刻顶得上。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686300" y="1188720"/>
            <a:ext cx="4000500" cy="1353312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7468" y="131673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63540" y="13350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跨域互补 · 能力均衡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87468" y="1755648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五人覆盖算法研发、硬件工程、市场运营、行政管理、财务风控全链路；创业所需的每个关键环节都有专人负责，构建完整创业闭环。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000500" cy="1353312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79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9806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创新实干 · 执行力强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218688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敢于突破传统成像思维，从光学源头另辟蹊径；原型机亲手组装调试，算法一行行代码打磨，脚踏实地推动产品快速迭代落地。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686300" y="2651760"/>
            <a:ext cx="4000500" cy="1353312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7468" y="2779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63540" y="279806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导师护航 · 资源支撑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7468" y="3218688"/>
            <a:ext cx="35433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依托广西科技师范学院高校平台，双导师全程指导；获得实验室场地、技术攻关、政策对接与产业资源多维支持，站在巨人肩膀上创业。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57200" y="4133088"/>
            <a:ext cx="8229600" cy="402336"/>
          </a:xfrm>
          <a:prstGeom prst="roundRect">
            <a:avLst>
              <a:gd name="adj" fmla="val 12500"/>
            </a:avLst>
          </a:prstGeom>
          <a:solidFill>
            <a:srgbClr val="12283D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" y="4283964"/>
            <a:ext cx="100584" cy="100584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330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学生团队 + 双导师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敢创新 · 能落地 · 可持续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FUTURE STRATEGY &amp;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三阶段战略｜从技术试点到生态引领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92440" y="256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E7C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2621585" cy="1956816"/>
          </a:xfrm>
          <a:prstGeom prst="roundRect">
            <a:avLst>
              <a:gd name="adj" fmla="val 257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16736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700784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试点期 · 打磨落地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22192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40" dirty="0">
                <a:solidFill>
                  <a:srgbClr val="C9D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完成产品工业化迭代；落地 3-5 家标杆客户并沉淀案例；年营收 60 万元，验证商业闭环。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261665" y="1152144"/>
            <a:ext cx="2621585" cy="1956816"/>
          </a:xfrm>
          <a:prstGeom prst="roundRect">
            <a:avLst>
              <a:gd name="adj" fmla="val 2570"/>
            </a:avLst>
          </a:prstGeom>
          <a:solidFill>
            <a:srgbClr val="1632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2833" y="1316736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 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62833" y="1700784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扩张期 · 品类拓展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62833" y="2103120"/>
            <a:ext cx="22192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40" dirty="0">
                <a:solidFill>
                  <a:srgbClr val="C9D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覆盖板材/型材/管材多品类；客户超 200 家；区域市占率突破 5%，成为区域知名品牌。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065215" y="1152144"/>
            <a:ext cx="2621585" cy="1956816"/>
          </a:xfrm>
          <a:prstGeom prst="roundRect">
            <a:avLst>
              <a:gd name="adj" fmla="val 2570"/>
            </a:avLst>
          </a:prstGeom>
          <a:solidFill>
            <a:srgbClr val="16324A"/>
          </a:solidFill>
          <a:ln w="17780">
            <a:solidFill>
              <a:srgbClr val="0FA3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6383" y="1316736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FA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年 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6383" y="1700784"/>
            <a:ext cx="2219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生态期 · 平台出海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66383" y="2103120"/>
            <a:ext cx="22192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40" dirty="0">
                <a:solidFill>
                  <a:srgbClr val="C9D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拓展多金属质检平台；布局东南亚市场；年营收突破千万级，成为中小制造企业质检数字化伙伴。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锈鉴智检——让每一根钢材，都被精准看见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4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以光学创新降低智能质检门槛，以AI算法守护制造质量底线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8F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广西科技师范学院 先进制造工程学院 · 锈鉴智检创新研发团队｜负责人：谢宇｜指导教师：陈旭红、赖道辉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57200" y="44256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A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恳请各位评委老师批评指正，谢谢！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锈鉴智检——低成本高精度钢材质检专家</dc:title>
  <dc:subject>中国国际大学生创新大赛（2024）拟推荐项目</dc:subject>
  <dc:creator>锈鉴智检创新研发团队</dc:creator>
  <cp:lastModifiedBy>锈鉴智检创新研发团队</cp:lastModifiedBy>
  <cp:revision>1</cp:revision>
  <dcterms:created xsi:type="dcterms:W3CDTF">2026-10-22T16:41:30Z</dcterms:created>
  <dcterms:modified xsi:type="dcterms:W3CDTF">2026-10-22T16:41:30Z</dcterms:modified>
</cp:coreProperties>
</file>