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95728" y="475488"/>
            <a:ext cx="4352544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/>
          <p:nvPr/>
        </p:nvSpPr>
        <p:spPr>
          <a:xfrm>
            <a:off x="2395728" y="475488"/>
            <a:ext cx="4352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中国国际大学生创新大赛（2024）拟推荐项目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742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5" name="Shape 3"/>
          <p:cNvSpPr/>
          <p:nvPr/>
        </p:nvSpPr>
        <p:spPr>
          <a:xfrm>
            <a:off x="44028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6" name="Shape 4"/>
          <p:cNvSpPr/>
          <p:nvPr/>
        </p:nvSpPr>
        <p:spPr>
          <a:xfrm>
            <a:off x="46314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Shape 5"/>
          <p:cNvSpPr/>
          <p:nvPr/>
        </p:nvSpPr>
        <p:spPr>
          <a:xfrm>
            <a:off x="48600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813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「锈鉴智检」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432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低成本高精度钢材质检专家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" y="30723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让高质量质检普惠每一家中小工厂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7863840" cy="1115568"/>
          </a:xfrm>
          <a:prstGeom prst="roundRect">
            <a:avLst>
              <a:gd name="adj" fmla="val 6557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3858768"/>
            <a:ext cx="10973" cy="76809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039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参赛赛道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409651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学生赛道（本科组）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智能制造工程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4800600" y="38039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团队信息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00600" y="4096512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团队名称：锈鉴智检创新研发团队　负责人：谢宇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成员：曹晓倩、伍锦琦、谢耀宽、何军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指导教师：陈旭红、赖道辉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7200" y="4864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80960" y="4846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2024.10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" cy="1225296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一页看懂"锈鉴智检"核心优势与千元级突破。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56032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2491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2491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被忽视的97%中小钢企，面临高成本与高漏检。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6344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2803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产品与技术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2803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 × 轻量化AI算法三级联动。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76656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93115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3115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60亿存量蓝海，轻量化普惠赛道增速35%居首。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2179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"硬件+软件+服务+租赁"四位一体盈利闭环。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56032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2491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272491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投资与财务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2491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三级阶梯资金投入，投资回收期仅2-2.5年。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6344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2803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生产与风险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轻资产稳健落地，三级质控与全流程风险管控。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76656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93115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团队与规划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3115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智能制造学子领航，高校双导师全程护航。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项目概述｜千元级成本 · 万元级售价 · 十万元级效果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859536"/>
          </a:xfrm>
          <a:prstGeom prst="roundRect">
            <a:avLst>
              <a:gd name="adj" fmla="val 5851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面向国内海量中小钢材企业，打造轻量化外挂式智能质检系统——无需改造产线、即装即用，用 AI 视觉替代人工肉眼，精准识别钢材表面早期锈蚀与端面微裂纹，让中小工厂用得起、用得好。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95%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锈蚀识别准确率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179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可精准捕获0.1mm肉眼难辨的早期点锈与微锈，在车间粉尘、震动等复杂工况下保持高稳定输出。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56032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272491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4%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2491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伪缺陷误检率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2491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依托12维几何与反光特征以及SVM二次甄别，完美剔除油污、灰尘、水印干扰，检出即为真缺陷。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66344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82803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单工位硬件成本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采用民用工业级器件集成与全国产化选型，硬件造价极低，彻底打破大型高端设备的价格壁垒。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676656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693115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30%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3115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综合部署成本占比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3115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整套系统落地价格仅为传统大型定制方案的三分之一，极大降低中小微企智能化改造门槛。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57200" y="4224528"/>
            <a:ext cx="8229600" cy="457200"/>
          </a:xfrm>
          <a:prstGeom prst="roundRect">
            <a:avLst>
              <a:gd name="adj" fmla="val 11000"/>
            </a:avLst>
          </a:prstGeom>
          <a:solidFill>
            <a:srgbClr val="E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2245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核心价值——一套设备替代多道人工质检工序，降本增效即刻可见。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四大核心功能｜一套设备替代多道人工工序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高精度早期锈蚀识别分级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捕捉 0.1mm 肉眼难辨的早期点锈、微锈；严格对标 GB/T 8923.1-2011 国标，按锈蚀面积占比与分布密度自动完成 A/B/C/D 等级判定；判定结果全程留痕，供需对账有据可依，消除等级争议。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工业伪缺陷智能滤除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针对车间常见的油污、灰尘、水印、划痕等干扰，依托反光率差异与 12 维几何特征二次甄别；误检率控制在 4% 以内，检出缺陷无需人工复核，真正"减人"而非"人机双保险"。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端面微裂纹同步检测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同一工位同步完成端面质检，"边缘提取初筛 + 深度学习复核"双重把关；可识别低至 0.05mm 的微裂纹并评估延伸趋势，杜绝隐性缺陷流入下道工序引发批量报废。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质检数据可视化管理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每根钢材的检测图像、等级、缺陷位置自动归档，按批次生成多维质量报表；支持历史追溯与趋势分析，帮工厂把"质检数据"变成"工艺改进依据"，建立标准化数字质控闭环。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&amp; POLICY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政策东风 × 市场刚需｜智能化升级正当时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政策红利驱动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94960" y="11338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庞大市场体量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46634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0" y="1444752"/>
            <a:ext cx="32918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792224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470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1719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国家纲领引导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01168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《质量强国建设纲要》《"十四五"智能制造发展规划》明确普及智能在线检测，发展轻量化、模块化智能质检装备，智能质检上升为国家战略。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13232" y="2596896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6517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523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广西财政补助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28163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制造业智能化改造项目，按设备及软件实际投入的20%给予专项财政补助，直接降低企业采购成本。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13232" y="3401568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564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15568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柳州数字化券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6210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企业采购智能检测设备可抵扣30%采购费用，政策窗口期内采购意愿显著增强。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532120" y="1572768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687568" y="14996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10亿吨+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59168" y="1536192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2024年全国粗钢年产量 / 海量检测基数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532120" y="2194560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12140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10万家+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059168" y="21579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钢材加工贸易相关企业 / 中小微企业占比超90%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532120" y="2816352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687568" y="274320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近60亿元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059168" y="2779776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2024钢材智能质检市场 / 细分赛道空间广阔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532120" y="3438144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687568" y="336499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35%/年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059168" y="34015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轻量化质检方案增速 / 全行业增长最快领域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政策真金白银 + 海量中小钢企 =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智能质检需求加速释放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痛点①｜人工质检：漏检高 · 标准乱 · 成本贵 · 难追溯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漏检率高达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30%-40%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早期微锈、点锈与端面裂纹极其细微，肉眼难以辨识；质检员长时间目视作业极易视觉疲劳，漏检率随工时持续攀升；残次品流入后续生产，轻则返工、重则整批报废。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标准不一争议多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锈蚀等级判定高度依赖质检员个人经验与当天状态，同一批钢材不同人判出不同等级；供需双方常因等级认定分歧产生退货纠纷，企业质量口碑受损。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人力成本持续攀升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一名专职质检员年用工成本高达8-12万元；质检岗位枯燥、流动性大，中小工厂"招人难、留人更难"；订单旺季临时加人，新手误判率更高，形成恶性循环。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数据零散无法追溯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纸质记录易丢失、难统计，出现质量问题无法按批次追溯根源；管理层看不到质量趋势，工艺改进只能凭经验拍脑袋，精细化管理无从谈起。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34256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FBECEA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57700"/>
            <a:ext cx="100584" cy="1005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342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四大短板叠加 = 中小钢企质检数字化全面卡壳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 02 &amp;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痛点②③｜传统设备"买不起、用不好"，97%市场仍空白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029200" cy="3090672"/>
          </a:xfrm>
          <a:prstGeom prst="roundRect">
            <a:avLst>
              <a:gd name="adj" fmla="val 162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3502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984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传统智能质检"三大门槛"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773936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造价昂贵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02996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大型钢厂定制化方案单工位5-10万元，后期运维另计，中小厂一年利润买不起一套设备。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523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部署笨重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2816352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需改造产线、停产调试数天，与中小厂"多批次、小批量"的柔性生产节奏严重冲突。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85800" y="3346704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4015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3101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干扰误检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3602736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传统单光源无法区分油污、水印与真实锈蚀，误报频繁，检出后仍需人工二次复核，省了人又没完全省。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0" y="1170432"/>
            <a:ext cx="3017520" cy="3090672"/>
          </a:xfrm>
          <a:prstGeom prst="roundRect">
            <a:avLst>
              <a:gd name="adj" fmla="val 1667"/>
            </a:avLst>
          </a:prstGeom>
          <a:solidFill>
            <a:srgbClr val="12283D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4264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5669280" y="2157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中小钢企智能质检渗透率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20840" y="2560320"/>
            <a:ext cx="914400" cy="1371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272491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超90%中小微钢企仍停留在纯人工质检阶段。"高端设备买不起、复杂设备用不好、低价设备精度差"是普遍困境——他们不是不想升级，是市场上没有为他们做的产品。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供需严重错配 =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我们的精准切入机会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我们的答案｜轻量化外挂式智能质检系统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E3F4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70432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打破行业"只优化算法"的固有思路，从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，结合轻量化 AI 算法，实现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低成本、高精度、易落地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3672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1493672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零改造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跨装于现有输送带上方，不改动任何原有生产设备与产线布局，220V常规供电即插即用。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326166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8137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4298137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4454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快部署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4454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龙门式可调支架+软件参数化调试，2小时完成全套安装、标定与上线，全程不停产。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06521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1688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7101688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4809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广适配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4809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光源角度、亮度软件可调，一套设备覆盖板材、型材等多种钢材品类与不同车间光照环境。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504" y="434797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龙门式外挂支架 + 软件参数化调试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板材、型材等多品类钢材全覆盖，全程不停产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核心技术①｜多角度强光辅助成像——从光学源头创新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75488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技术原理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847088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对称补光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2011680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搭载4-6组LED条形光源，以15°-45°倾角对钢材表面差异化补光。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85800" y="2651760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542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反光差异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" y="2816352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粗糙锈蚀区产生漫反射呈暗斑，光滑基材呈均匀镜面反射，油污水印反光特征又与锈蚀不同。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346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特征显形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824" y="3621024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对比多角度图像，将肉眼难辨的0.1mm早期点锈转化为高对比度图像特征。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394960" y="1152144"/>
            <a:ext cx="329184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9612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四大优势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1773936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5797296" y="17007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检测下限极低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97296" y="1938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灵敏度较传统方案提升3倍以上，微米级早期锈蚀无处遁形。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623560" y="2377440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5797296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抗干扰能力强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97296" y="2542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从光学层区分锈蚀与油污/水印/灰尘，大幅降低后端算法压力。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623560" y="2980944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5797296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场景适配广泛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97296" y="31455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软件调节光源参数，适配热轧板、冷轧板、型材等多种表面。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623560" y="3584448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5797296" y="35112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硬件成本低廉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97296" y="3749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民用工业级LED模组，无需昂贵特种光学设备。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×3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光学成本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核心技术②｜"增强 → 分割 → 滤伪"三级联动算法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前置图像增强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去噪矫正 · 多帧融合 · 直方图均衡化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640080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解决车间强光反光、画面模糊、对比度低问题，为检测提供高质量图像输入；运算量小，边缘端实时运行。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26166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454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3" name="Text 11"/>
          <p:cNvSpPr/>
          <p:nvPr/>
        </p:nvSpPr>
        <p:spPr>
          <a:xfrm>
            <a:off x="344454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4454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改进 YOLOv8-seg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454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小目标检测头 · CBAM 注意力 · Ghost 卷积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344454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针对点锈、微裂纹等极小目标专项优化；参数量减少 35%、推理速度提升 40%，低成本网关即可流畅运行。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06521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4809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809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4809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伪缺陷智能滤除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09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维特征提取 · SVM 二次甄别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624809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提取面积、灰度、反光率、纹理熵等特征，结合自建工业伪缺陷样本库精准剔除油污划痕干扰，误检率 ≤ 4%。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140964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8172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169664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35711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169664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，完美跟上高速产线节奏，兼顾高精度与计算速度。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EXTENDED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不止于锈｜国标等级判定 + 端面微裂纹检测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锈蚀等级智能判定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严格对标GB/T 8923.1-2011国家标准，基于像素级分割结果精准计算锈蚀面积占比、分布密度与形态特征；自动完成A/B/C/D四级判定，输出带依据的判定报告；支持企业按客户要求自定义判定阈值，对接不同采购标准。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7132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8923.1-2011 国标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9202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A/B/C/D 四级判定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1272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272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阈值可自定义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6863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57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50886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端面微裂纹检测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423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采用"边缘提取初筛 + 深度学习复核"融合方案：先由传统视觉算法过滤氧化皮、加工划痕等干扰，再由轻量化深度学习模型精准判定；可识别低至0.05mm的微裂纹，同步估算裂纹长度与延伸趋势，提前拦截断裂风险。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9423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423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 微裂纹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493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93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初筛 + 深度学习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3563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563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断裂风险提前拦截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系统组成 × 快速部署｜三层架构 · 2 小时上线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20624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三层系统架构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682496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64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硬件层（感知载体）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029968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多角度可调 LED 光源模组 · 高清工业面阵相机 · 国产化边缘计算网关 · 声光报警模块。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2450592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32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软件层（智能核心）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798064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高精度算法引擎 · 全量数据管理系统 · 可视化操作平台，检测、判定、存储、报表一站式。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218688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应用服务层（价值延伸）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566160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现场部署调试 · 人员培训 · 算法迭代升级 · 定制开发 · 质量数据分析咨询。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1152144"/>
            <a:ext cx="429768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4748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12618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小时快部署 · 七步自动化流程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龙门架跨装输送带上方 1.2–1.5 米，220V 供电、全程不停产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74920" y="185623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074920" y="189280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94960" y="1847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传感器感应钢材到位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74920" y="218541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074920" y="22219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多角度分时采图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74920" y="2514600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255117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图像预处理增强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74920" y="2843784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28803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94960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像素级分割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074920" y="3172968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20954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94960" y="3163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滤伪缺陷 + 国标定级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74920" y="350215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538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94960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合格放行 / 声光预警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074920" y="383133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386791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94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数据存档可追溯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，零门槛融入现有流水线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FEASIBILITY &amp; USABILITY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为中小工厂而生｜装得上 · 用得起 · 管得好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2816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02816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模块化外挂设计，不改变产线布局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单工位占地 &lt; 0.5㎡，普通电工即可完成接线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机械旋钮粗调 + 软件细调，无需专业工程师驻场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7281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07281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用得起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454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单工位硬件成本 ≤ 8000 元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整套落地价仅为传统方案 1/3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叠加广西 20% 补助 + 柳州 30% 券，投入再降近半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0832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0832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管得好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4809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批次报表 + 质量趋势图自动生成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远程运维 + 在线算法升级，故障远程诊断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数据本地存储，工厂数据资产完全自主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37540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2452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 20% 技改补助 + 柳州 30% 数字化券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客户实际投入再降近半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市场空间｜60 亿存量 → 200 亿未来，轻量化赛道增速第一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市场容量跨越增长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市场结构三维度拆解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9344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59105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亿元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年国内钢材智能质检细分市场规模。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05456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4871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 200 亿元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907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预计 2030 年市场规模，六年实现 3 倍+ 暴涨。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401568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383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 400 亿元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8368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中小钢企设备更新 + 新增需求（超 200 万套），未来五年最核心增量。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114800" y="1481328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按产品类型分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97680" y="184708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高端定制 40%（难下沉）｜中端 35%（精度有限）｜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轻量化普惠 25%，增速 35% 最快——我们在这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114800" y="2377440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按技术路径分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9768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传统机器视觉 55%（增速放缓）｜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智能视觉 45%，正快速替代成为绝对主流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114800" y="3273552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3364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按应用场景分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97680" y="3639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大型钢厂在线质检 40%（趋饱和）｜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中小厂来料质检 60%，需求分散旺盛、竞争薄弱——我们聚焦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E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大型钢企改造趋近饱和，占行业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55%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体量的中小微钢企仍处蓝海爆发前期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竞争格局｜三类玩家各有短板，专属方案存在空白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竞争主体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23160" y="11887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主要优势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32120" y="11887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明显短板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922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头部视觉厂商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0665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（海康威视、大恒图像）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450592" y="181051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品牌影响力强、技术成熟度高、产品线布局全面。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5559552" y="181051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聚焦中高端定制高价方案，单工位5-10万，忽视中小厂轻量化需求。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2450592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59689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垂直AI创业公司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28712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2450592" y="26151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算法针对性强、检测精度高、技术迭代速度快。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5559552" y="261518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硬件成本高昂、部署过程复杂，仅服务大型企业，不具备基层下沉能力。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015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地方小型设备厂商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67588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2450592" y="34198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产品售价低廉、本地化响应极其迅速。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5559552" y="341985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技术积累薄弱、检测精度差、系统稳定性不足，完全无算法持续迭代能力。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57200" y="4041648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12283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965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我们的位置：锈鉴智检——定位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平衡点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433425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"高精度、低成本、快部署"三者兼得——当前行业高度分散、尚无绝对龙头，中小钢企专属质检方案存在明显市场空白，先发者将迅速建立区域标杆壁垒。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ADVANTAGES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四维壁垒｜技术 · 成本 · 部署 · 服务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技术壁垒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独创多角度强光辅助成像，从光学源头突破行业瓶颈；配合三级联动算法，高反光、多污渍复杂工况下精度与抗干扰能力行业领先，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点锈、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裂纹稳定检出。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46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成本壁垒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057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光学创新降低算力依赖，无需高端GPU；全国产化民用器件选型，单工位硬件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，整套落地价仅为传统方案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，中小厂一年省下的人工成本即可覆盖采购。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部署壁垒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模块化外挂设计，不改产线、不停产，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2小时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全流程落地；参数化软件调试适配多品类钢材，同行定制方案需要数周的部署周期，我们当天上线。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46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服务壁垒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057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本地化团队深耕广西，上门安装调试、一对一操作培训、远程极速运维；比头部厂商标准化工单响应更贴身，比小厂商更有技术纵深，客户粘性转化为复购与转介绍。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1198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26110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DA7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传统方案单工位 5-10 万元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vs 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 ≤ 2 万元级整体落地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CUSTOMERS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先标杆、后规模｜目标客户清晰可触达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1960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11960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目标客户画像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广西及周边（柳州、玉林、贵港、佛山辐射圈）中小型钢材加工、贸易企业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来料检验依赖人工、质量纠纷频发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有数字化意愿但预算有限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单厂 1-3 个质检工位，年质检人力成本 10-30 万元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425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16425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标杆打造路径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4454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试点期免费 / 低价部署 3-5 家本地标杆客户，全程陪跑迭代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输出《质检数字化对比报告》：漏检率、人力成本、纠纷率前后对比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形成案例手册与视频素材，作为规模化推广的核心弹药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9976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9976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为什么能赢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09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政府补贴背书，降低决策门槛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7 天免费试用，先见效果再付费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设备钱 &lt; 一年质检员工资，算账即下单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本地化服务随叫随到，消除"买了没人管"顾虑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57200" y="4242816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428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标杆案例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区域口碑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渠道复制，滚雪球式扩张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商业模式｜四位一体，"一次销售 + 长期服务"盈利闭环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硬件销售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403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30403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毛利约 40%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583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三档配置差异化定价（基础/标准/高级版），规模化采购+自主集成控成本，贡献基础收入与现金流。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6863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63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4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软件授权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694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毛利超 80% · 利润主源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48874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基础功能随硬件附赠，高级算法模块按年授权订阅，老客户续费8折，形成持续高粘性收入。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增值服务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403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30403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长期增长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583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部署调试按次、年度维保按年、定制开发按项目、质量数据咨询按次收费，粘住客户全生命周期。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863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63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48874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设备租赁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低门槛获客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8874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按月收租、租期灵活，租满设备归客户，打消中小厂一次性投入顾虑，快速抢占市场。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566928"/>
          </a:xfrm>
          <a:prstGeom prst="roundRect">
            <a:avLst>
              <a:gd name="adj" fmla="val 8871"/>
            </a:avLst>
          </a:prstGeom>
          <a:solidFill>
            <a:srgbClr val="12283D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38679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749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盈利闭环逻辑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0507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高性价比硬件引流获客 → 技术与服务赢得信任 → 软件订阅与增值服务提升粘性 → 可持续盈利与规模化发展。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MARKETING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营销策略｜产品 · 价格 · 渠道 · 推广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产品策略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差异化定位"低成本、高精度、快部署"；基础/标准/高级三档矩阵覆盖不同预算客户；每6-12个月迭代升级，软件功能远程推送，硬件模块可加装，让客户"买后不落后"。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874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价格策略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874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渗透定价快速抢占细分市场；阶梯定价鼓励多工位批量采购；"硬件+软件+服务"组合优惠包；主动协助客户申报政府技改补贴与数字化券，降低实际支付价。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渠道策略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直销团队攻坚本地标杆客户；经销商下沉钢材市场与产业园区；与钢材贸易商、产线集成商捆绑销售分成；官网+短视频线上获客引流，四线并行。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74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Promotion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推广策略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874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3-5家标杆案例手册与对比视频；行业展会现场实机演示"肉眼vs设备"检出对比；7天免费试用零风险体验；老客户推荐裂变奖励，口碑滚雪球。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44302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2793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补贴借力 + 试用先行 + 标杆背书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低预算高效获客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产品矩阵｜三档配置 · 三级迭代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产品组合阶梯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研发迭代规划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19568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单相机 + 4 组光源，专注表面锈蚀检测——价格敏感的微型厂首选。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70432" y="2871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双相机 + 6 组光源，锈蚀 + 端面裂纹同步检测——主力走量款。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043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7856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加装 3D 模组 + 云端质量管理平台——面向多产线规模客户。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4846320" y="15179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406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508406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5955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短期目标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59552" y="19568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优化核心算法、新增型材适配、完善报表功能，夯实标杆客户体验。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4846320" y="24323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8406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8406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5955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中期目标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59552" y="28712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自学习迭代、拓展管材/不锈钢版本、对接主流 ERP 系统。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8406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508406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长期目标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3D/多光谱融合检测、工业质检大模型、多语言版本布局海外。</a:t>
            </a:r>
            <a:endParaRPr lang="en-US" sz="9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实施路线｜六步走，从原型到国际化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（1-3月）</a:t>
            </a:r>
            <a:endParaRPr lang="en-US" sz="930" dirty="0"/>
          </a:p>
        </p:txBody>
      </p:sp>
      <p:sp>
        <p:nvSpPr>
          <p:cNvPr id="8" name="Text 6"/>
          <p:cNvSpPr/>
          <p:nvPr/>
        </p:nvSpPr>
        <p:spPr>
          <a:xfrm>
            <a:off x="640080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核心团队组建完成，算法原型验证，关键指标实验室达标。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26166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54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454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（3-6月）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344454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深入工厂需求调研，软硬件联调，完成首台工程样机。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06521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809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4809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（6-12月）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624809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3-5家标杆客户免费部署，真实产线陪跑迭代，沉淀案例。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（12-18月）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产品标准化定型，渠道体系搭建，启动区域规模化销售。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26166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454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454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（18-36月）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344454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跨区域复制推广，品类拓展至管材/不锈钢，客户破200家。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06521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809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809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（长期）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624809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多金属质检平台化，布局东南亚市场，构建工业质检生态。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8229600" cy="384048"/>
          </a:xfrm>
          <a:prstGeom prst="roundRect">
            <a:avLst>
              <a:gd name="adj" fmla="val 13095"/>
            </a:avLst>
          </a:prstGeom>
          <a:solidFill>
            <a:srgbClr val="EAF6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427482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1330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6-12 个月形成一个可验证里程碑，稳健高效推进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投资分析｜双向可行 + 阶梯投入 5 万 → 20 万 → 50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≥ 95%、误检率 ≤ 4%，关键指标实验室验证达标；原型机完成组装联调；多角度成像 + 轻量化算法技术路线完全自主；模块化软硬件选型成熟，具备规模化生产条件。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166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市场可行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2833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60亿存量市场，中小企业渗透率不足 3%，蓝海明确；地方政策与补贴到位，客户采购意愿强；普惠赛道竞争薄弱，无强势对手；"设备钱 &lt; 一年质检员工资"，商业账算得过来。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6521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809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809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5023" y="12801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三阶段资金规划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6383" y="1901952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万元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6383" y="2130552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算法研发、原型制作、标杆试点验证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266383" y="239572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万元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6383" y="2624328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扩大产能、渠道建设、技术升级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266383" y="288950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万元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6383" y="3118104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品类拓展、生态平台与海内外布局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3529584"/>
            <a:ext cx="8229600" cy="896112"/>
          </a:xfrm>
          <a:prstGeom prst="roundRect">
            <a:avLst>
              <a:gd name="adj" fmla="val 5612"/>
            </a:avLst>
          </a:prstGeom>
          <a:solidFill>
            <a:srgbClr val="12283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21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 5 万元资金精准拆分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研发费用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2.25 万 · 45%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硬件原型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1.25 万 · 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试点市场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6656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人力办公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RETURN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回报预期｜回收期 2-2.5 年，五年营收 60 万 → 1040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万元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种子期净利润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658368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小规模验证商业与盈利模式顺畅跑通。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326166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80 万元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成长期累计净利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346283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标准化批量复制，开启规模化盈利。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06521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110 万元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成熟期年净利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26638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平台化全面放量，获取稳健长效收益。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57200" y="24323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五年营收演进路径（单位：万元）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4023360"/>
            <a:ext cx="7680960" cy="1371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3950208"/>
            <a:ext cx="640080" cy="73152"/>
          </a:xfrm>
          <a:prstGeom prst="roundRect">
            <a:avLst>
              <a:gd name="adj" fmla="val 37500"/>
            </a:avLst>
          </a:prstGeom>
          <a:solidFill>
            <a:srgbClr val="9FC1D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7124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06040" y="3858768"/>
            <a:ext cx="640080" cy="164592"/>
          </a:xfrm>
          <a:prstGeom prst="roundRect">
            <a:avLst>
              <a:gd name="adj" fmla="val 16667"/>
            </a:avLst>
          </a:prstGeom>
          <a:solidFill>
            <a:srgbClr val="6F9AB8"/>
          </a:solidFill>
          <a:ln/>
        </p:spPr>
      </p:sp>
      <p:sp>
        <p:nvSpPr>
          <p:cNvPr id="23" name="Text 21"/>
          <p:cNvSpPr/>
          <p:nvPr/>
        </p:nvSpPr>
        <p:spPr>
          <a:xfrm>
            <a:off x="2514600" y="36210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0604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3657600"/>
            <a:ext cx="640080" cy="365760"/>
          </a:xfrm>
          <a:prstGeom prst="roundRect">
            <a:avLst>
              <a:gd name="adj" fmla="val 7500"/>
            </a:avLst>
          </a:prstGeom>
          <a:solidFill>
            <a:srgbClr val="40759B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4198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6052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383280"/>
            <a:ext cx="640080" cy="640080"/>
          </a:xfrm>
          <a:prstGeom prst="roundRect">
            <a:avLst>
              <a:gd name="adj" fmla="val 4286"/>
            </a:avLst>
          </a:prstGeom>
          <a:solidFill>
            <a:srgbClr val="1E5078"/>
          </a:solidFill>
          <a:ln/>
        </p:spPr>
      </p:sp>
      <p:sp>
        <p:nvSpPr>
          <p:cNvPr id="29" name="Text 27"/>
          <p:cNvSpPr/>
          <p:nvPr/>
        </p:nvSpPr>
        <p:spPr>
          <a:xfrm>
            <a:off x="562356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71500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9480" y="3072384"/>
            <a:ext cx="640080" cy="950976"/>
          </a:xfrm>
          <a:prstGeom prst="roundRect">
            <a:avLst>
              <a:gd name="adj" fmla="val 4286"/>
            </a:avLst>
          </a:prstGeom>
          <a:solidFill>
            <a:srgbClr val="0E32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78040" y="2834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6948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70832"/>
            <a:ext cx="8229600" cy="310896"/>
          </a:xfrm>
          <a:prstGeom prst="roundRect">
            <a:avLst>
              <a:gd name="adj" fmla="val 16176"/>
            </a:avLst>
          </a:prstGeom>
          <a:solidFill>
            <a:srgbClr val="E3F4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47598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3708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投资回收期仅 2-2.5 年，五年实现营收十七倍跨越！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生产管理｜轻资产 · 强质控 · 全生命周期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轻资产布局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以组装集成与测试为主，核心零部件外采，不自建重资产产线；初期依托学校实验室与孵化基地完成小批量生产；中期在柳州/玉林设区域组装中心，贴近客户、降低物流与响应成本。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三级质控管控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62833" y="197510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3609137" y="19202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来料检验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09137" y="2157984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核心器件入库全检。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62833" y="2724912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8" name="Text 16"/>
          <p:cNvSpPr/>
          <p:nvPr/>
        </p:nvSpPr>
        <p:spPr>
          <a:xfrm>
            <a:off x="3609137" y="26700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过程检验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09137" y="2907792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组装关键工序双人复核。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2833" y="3474720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3609137" y="3419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出厂检验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09137" y="3657600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每台设备完成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 小时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连续运行测试方可发货，确保到厂即稳定运行。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09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624809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502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全生命周期闭环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6383" y="1883664"/>
            <a:ext cx="22192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标准接口设计支持旧设备升级，以旧换新政策促进迭代复购；上门安装培训 + 定期主动回访，全程无忧；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266383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6383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旧设备可升级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7473391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3391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上门安装培训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266383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6383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7473391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3391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研发·服务闭环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57200" y="4242816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" y="439369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2428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轻资产模式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低固定投入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强抗风险能力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MANAGEMENT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风险可控｜六大风险 · 六项对策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技术迭代风险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每年营收15%-20%投入研发，6-12个月快速迭代，保持技术绝对领先地位。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691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91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532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532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深耕中小钢企细分场景，以标杆案例与服务口碑构筑坚实的区域品牌壁垒。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政策变动风险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紧跟政策导向调整申报策略，持续提升产品本体价值，降低对地方补贴依赖。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91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91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32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需求变化风险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32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采用模块化软硬件架构，快速响应客户定制需求，小步快跑验证新品类。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核心零部件维持2-3家供应商备选，签订长协锁价锁产能，常备安全库存。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863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91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91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32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财务风险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532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推行全面预算管理，坚持轻资产运营，利用硬件销售保现金流，严控账期。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ADVISORS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团队组织｜能力互补 · 结构合理 · 导师护航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932688"/>
          </a:xfrm>
          <a:prstGeom prst="roundRect">
            <a:avLst>
              <a:gd name="adj" fmla="val 5392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07592"/>
            <a:ext cx="621792" cy="62179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4173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1298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谢宇（项目总负责人）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72768" y="16459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统筹战略规划、技术决策与团队管理｜精通 AutoCAD、UG NX 软件设计，多次斩获 AI 创新大赛校级一等奖。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957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伍锦琦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技术研发 / 市场运营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1264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精通 Python 与深度学习算法，专注缺陷识别模型研发，逻辑严密、执行力强。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56032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8269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5176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谢耀宽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硬件工程 / 项目执行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71576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机电工程基础扎实，擅长设备硬件集成与现场联调，工程实践经验突出。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466344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8581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8581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曹晓倩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人力行政经理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81888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沟通协调能力优秀，文字功底扎实，精通团队行政组织与后勤综合保障。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76656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8893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何军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财务总监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692200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严谨细致，精通项目成本核算、财务风险控制与资金规划精细化管理。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457200" y="4169664"/>
            <a:ext cx="8229600" cy="502920"/>
          </a:xfrm>
          <a:prstGeom prst="roundRect">
            <a:avLst>
              <a:gd name="adj" fmla="val 10000"/>
            </a:avLst>
          </a:prstGeom>
          <a:solidFill>
            <a:srgbClr val="12283D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3159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2062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 / 顾问团队：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446227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高级工程师、南航工学硕士坐镇，工业项目经验丰富——为团队提供实验室场地、关键技术攻关及产业资源全面支持。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DNA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为什么是我们？四大团队基因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 · 使命驱动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团队成员同专业同班级，因"用智能技术赋能中小制造"的共同愿景组队；目标高度一致，分工不分家，关键时刻顶得上。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863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874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635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跨域互补 · 能力均衡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874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五人覆盖算法研发、硬件工程、市场运营、行政管理、财务风控全链路；创业所需的每个关键环节都有专人负责，构建完整创业闭环。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创新实干 · 执行力强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敢于突破传统成像思维，从光学源头另辟蹊径；原型机亲手组装调试，算法一行行代码打磨，脚踏实地推动产品快速迭代落地。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6863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74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635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导师护航 · 资源支撑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874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依托广西科技师范学院高校平台，双导师全程指导；获得实验室场地、技术攻关、政策对接与产业资源多维支持，站在巨人肩膀上创业。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57200" y="413308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" y="428396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33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学生团队 + 双导师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敢创新 · 能落地 · 可持续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FUTURE STRATEGY &amp;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三阶段战略｜从技术试点到生态引领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试点期 · 打磨落地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完成产品工业化迭代；落地 3-5 家标杆客户并沉淀案例；年营收 60 万元，验证商业闭环。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26166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3-4 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扩张期 · 品类拓展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283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覆盖板材/型材/管材多品类；客户超 200 家；区域市占率突破 5%，成为区域知名品牌。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06521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7780">
            <a:solidFill>
              <a:srgbClr val="0FA3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 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生态期 · 平台出海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638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拓展多金属质检平台；布局东南亚市场；年营收突破千万级，成为中小制造企业质检数字化伙伴。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锈鉴智检——让每一根钢材，都被精准看见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4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以光学创新降低智能质检门槛，以AI算法守护制造质量底线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锈鉴智检创新研发团队｜负责人：谢宇｜指导教师：陈旭红、赖道辉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57200" y="44256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恳请各位评委老师批评指正，谢谢！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锈鉴智检——低成本高精度钢材质检专家</dc:title>
  <dc:subject>中国国际大学生创新大赛（2024）拟推荐项目</dc:subject>
  <dc:creator>锈鉴智检创新研发团队</dc:creator>
  <cp:lastModifiedBy>锈鉴智检创新研发团队</cp:lastModifiedBy>
  <cp:revision>1</cp:revision>
  <dcterms:created xsi:type="dcterms:W3CDTF">2026-10-22T16:20:13Z</dcterms:created>
  <dcterms:modified xsi:type="dcterms:W3CDTF">2026-10-22T16:20:13Z</dcterms:modified>
</cp:coreProperties>
</file>