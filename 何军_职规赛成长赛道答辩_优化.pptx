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76072"/>
            <a:ext cx="118872" cy="118872"/>
          </a:xfrm>
          <a:prstGeom prst="ellipse">
            <a:avLst/>
          </a:prstGeom>
          <a:solidFill>
            <a:srgbClr val="2ED573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754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全国大学生职业规划大赛 · 成长赛道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332720" y="493776"/>
            <a:ext cx="1307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7E9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2026.10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51790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ED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CAREER GROWTH DECK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993392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从被调剂到主动选择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5989320" y="2889504"/>
            <a:ext cx="1554480" cy="64008"/>
          </a:xfrm>
          <a:prstGeom prst="rect">
            <a:avLst/>
          </a:prstGeom>
          <a:solidFill>
            <a:srgbClr val="2ED57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21868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CBD9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AI 与机器人交叉领域的技术型产品经理成长路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548640" y="4846320"/>
            <a:ext cx="11094415" cy="1234440"/>
          </a:xfrm>
          <a:prstGeom prst="roundRect">
            <a:avLst>
              <a:gd name="adj" fmla="val 3704"/>
            </a:avLst>
          </a:prstGeom>
          <a:solidFill>
            <a:srgbClr val="12242A"/>
          </a:solidFill>
          <a:ln w="12700">
            <a:solidFill>
              <a:srgbClr val="2A4A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4846320"/>
            <a:ext cx="68580" cy="1234440"/>
          </a:xfrm>
          <a:prstGeom prst="rect">
            <a:avLst/>
          </a:prstGeom>
          <a:solidFill>
            <a:srgbClr val="2ED573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5074920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“我要做的不是和机器人抢饭碗的人，而是设计和驾驭机器人的人。”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641080" y="5047488"/>
            <a:ext cx="10973" cy="822960"/>
          </a:xfrm>
          <a:prstGeom prst="rect">
            <a:avLst/>
          </a:prstGeom>
          <a:solidFill>
            <a:srgbClr val="2A4A46"/>
          </a:solidFill>
          <a:ln/>
        </p:spPr>
      </p:sp>
      <p:sp>
        <p:nvSpPr>
          <p:cNvPr id="13" name="Text 11"/>
          <p:cNvSpPr/>
          <p:nvPr/>
        </p:nvSpPr>
        <p:spPr>
          <a:xfrm>
            <a:off x="8915400" y="51023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何军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915400" y="55046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E9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机器人工程 261 班 · 18 岁</a:t>
            </a:r>
            <a:endParaRPr lang="en-US" sz="1100" dirty="0"/>
          </a:p>
        </p:txBody>
      </p:sp>
      <p:sp>
        <p:nvSpPr>
          <p:cNvPr id="15" name="AILabel"/>
          <p:cNvSpPr txBox="1"/>
          <p:nvPr/>
        </p:nvSpPr>
        <p:spPr>
          <a:xfrm>
            <a:off x="9612000" y="6278000"/>
            <a:ext cx="2400000" cy="400000"/>
          </a:xfrm>
          <a:prstGeom prst="rect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FFFFFF"/>
            </a:solidFill>
          </a:ln>
        </p:spPr>
        <p:txBody>
          <a:bodyPr wrap="square" rtlCol="0" anchor="ctr" lIns="91440" tIns="45720" rIns="91440" bIns="45720"/>
          <a:lstStyle/>
          <a:p>
            <a:pPr algn="ctr"/>
            <a:r>
              <a:rPr lang="zh-CN" sz="1400" b="1" dirty="0">
                <a:solidFill>
                  <a:srgbClr val="FFFFFF"/>
                </a:solidFill>
                <a:latin typeface="Arial"/>
                <a:ea typeface="SimSun"/>
              </a:rPr>
              <a:t>含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E7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/ PERSONAL PROFILE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三个关键词，快速认识何军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881360" y="365760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45129" cy="416052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E4E3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55444" y="2258568"/>
            <a:ext cx="731520" cy="731520"/>
          </a:xfrm>
          <a:prstGeom prst="ellipse">
            <a:avLst/>
          </a:prstGeom>
          <a:solidFill>
            <a:srgbClr val="E3F4EA"/>
          </a:solidFill>
          <a:ln/>
        </p:spPr>
      </p:sp>
      <p:sp>
        <p:nvSpPr>
          <p:cNvPr id="7" name="Text 5"/>
          <p:cNvSpPr/>
          <p:nvPr/>
        </p:nvSpPr>
        <p:spPr>
          <a:xfrm>
            <a:off x="1955444" y="24414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&lt;/&gt;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227832"/>
            <a:ext cx="35451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E7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 01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3593592"/>
            <a:ext cx="354512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动手派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4178808"/>
            <a:ext cx="299648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开学利用课余约一周，独立上线个人网站全流程。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521104" y="534924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EAF6EF"/>
          </a:solidFill>
          <a:ln w="12700">
            <a:solidFill>
              <a:srgbClr val="C9E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21104" y="53492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1 周独立上线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22369" y="1874520"/>
            <a:ext cx="3545129" cy="416052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E4E3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29173" y="2258568"/>
            <a:ext cx="731520" cy="731520"/>
          </a:xfrm>
          <a:prstGeom prst="ellipse">
            <a:avLst/>
          </a:prstGeom>
          <a:solidFill>
            <a:srgbClr val="E3F4EA"/>
          </a:solidFill>
          <a:ln/>
        </p:spPr>
      </p:sp>
      <p:sp>
        <p:nvSpPr>
          <p:cNvPr id="15" name="Text 13"/>
          <p:cNvSpPr/>
          <p:nvPr/>
        </p:nvSpPr>
        <p:spPr>
          <a:xfrm>
            <a:off x="5729173" y="24414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322369" y="3227832"/>
            <a:ext cx="35451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E7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 02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322369" y="3593592"/>
            <a:ext cx="354512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沟通者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596689" y="4178808"/>
            <a:ext cx="299648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高中优秀班干、学习委员；作为校园合伙人推广产品。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294833" y="534924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EAF6EF"/>
          </a:solidFill>
          <a:ln w="12700">
            <a:solidFill>
              <a:srgbClr val="C9E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94833" y="53492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沟通表达见长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095183" y="1874520"/>
            <a:ext cx="3545129" cy="416052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E4E3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01988" y="2258568"/>
            <a:ext cx="731520" cy="731520"/>
          </a:xfrm>
          <a:prstGeom prst="ellipse">
            <a:avLst/>
          </a:prstGeom>
          <a:solidFill>
            <a:srgbClr val="E3F4EA"/>
          </a:solidFill>
          <a:ln/>
        </p:spPr>
      </p:sp>
      <p:sp>
        <p:nvSpPr>
          <p:cNvPr id="23" name="Text 21"/>
          <p:cNvSpPr/>
          <p:nvPr/>
        </p:nvSpPr>
        <p:spPr>
          <a:xfrm>
            <a:off x="9501988" y="24414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∞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095183" y="3227832"/>
            <a:ext cx="35451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E7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 03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095183" y="3593592"/>
            <a:ext cx="354512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长期主义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369503" y="4178808"/>
            <a:ext cx="299648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面向短板打补丁，本学期起每日背单词攻坚英语。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067648" y="534924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EAF6EF"/>
          </a:solidFill>
          <a:ln w="12700">
            <a:solidFill>
              <a:srgbClr val="C9E6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67648" y="53492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每日背单词攻坚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E7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GROWTH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四站路线图：目标是怎么长出来的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881360" y="365760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234440" y="2542032"/>
            <a:ext cx="9720072" cy="36576"/>
          </a:xfrm>
          <a:prstGeom prst="rect">
            <a:avLst/>
          </a:prstGeom>
          <a:solidFill>
            <a:srgbClr val="D3E5DA"/>
          </a:solidFill>
          <a:ln/>
        </p:spPr>
      </p:sp>
      <p:sp>
        <p:nvSpPr>
          <p:cNvPr id="6" name="Shape 4"/>
          <p:cNvSpPr/>
          <p:nvPr/>
        </p:nvSpPr>
        <p:spPr>
          <a:xfrm>
            <a:off x="1271016" y="2258568"/>
            <a:ext cx="566928" cy="566928"/>
          </a:xfrm>
          <a:prstGeom prst="ellipse">
            <a:avLst/>
          </a:prstGeom>
          <a:solidFill>
            <a:srgbClr val="0E7A4F"/>
          </a:solidFill>
          <a:ln/>
        </p:spPr>
      </p:sp>
      <p:sp>
        <p:nvSpPr>
          <p:cNvPr id="7" name="Text 5"/>
          <p:cNvSpPr/>
          <p:nvPr/>
        </p:nvSpPr>
        <p:spPr>
          <a:xfrm>
            <a:off x="1271016" y="235915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2880" y="30632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起点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被调剂的专业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0" y="391363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录取机器人工程，重新认知专业内涵。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423160" y="23408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E7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922776" y="2258568"/>
            <a:ext cx="566928" cy="566928"/>
          </a:xfrm>
          <a:prstGeom prst="ellipse">
            <a:avLst/>
          </a:prstGeom>
          <a:solidFill>
            <a:srgbClr val="0E7A4F"/>
          </a:solidFill>
          <a:ln/>
        </p:spPr>
      </p:sp>
      <p:sp>
        <p:nvSpPr>
          <p:cNvPr id="13" name="Text 11"/>
          <p:cNvSpPr/>
          <p:nvPr/>
        </p:nvSpPr>
        <p:spPr>
          <a:xfrm>
            <a:off x="3922776" y="235915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834640" y="30632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83464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三月深度调研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51760" y="391363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对话AI、查岗位要求、跟踪产业政策。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74920" y="23408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E7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574536" y="2258568"/>
            <a:ext cx="566928" cy="566928"/>
          </a:xfrm>
          <a:prstGeom prst="ellipse">
            <a:avLst/>
          </a:prstGeom>
          <a:solidFill>
            <a:srgbClr val="0E7A4F"/>
          </a:solidFill>
          <a:ln/>
        </p:spPr>
      </p:sp>
      <p:sp>
        <p:nvSpPr>
          <p:cNvPr id="19" name="Text 17"/>
          <p:cNvSpPr/>
          <p:nvPr/>
        </p:nvSpPr>
        <p:spPr>
          <a:xfrm>
            <a:off x="6574536" y="235915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0" y="30632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实战与积累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03520" y="391363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建网站、练沟通、补短板、三年规划。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726680" y="23408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E7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226296" y="2258568"/>
            <a:ext cx="566928" cy="566928"/>
          </a:xfrm>
          <a:prstGeom prst="ellipse">
            <a:avLst/>
          </a:prstGeom>
          <a:solidFill>
            <a:srgbClr val="0E7A4F"/>
          </a:solidFill>
          <a:ln/>
        </p:spPr>
      </p:sp>
      <p:sp>
        <p:nvSpPr>
          <p:cNvPr id="25" name="Text 23"/>
          <p:cNvSpPr/>
          <p:nvPr/>
        </p:nvSpPr>
        <p:spPr>
          <a:xfrm>
            <a:off x="9226296" y="2359152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138160" y="30632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13816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复盘与备份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955280" y="3913632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三信号校准方向，设立AI服务Plan B。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53949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我的目标，本身就是 </a:t>
            </a:r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E7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“调”</a:t>
            </a:r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出来的。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E7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STARTING POINT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起点：我的专业，是“被调剂”来的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881360" y="365760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7040880" cy="3840480"/>
          </a:xfrm>
          <a:prstGeom prst="roundRect">
            <a:avLst>
              <a:gd name="adj" fmla="val 1190"/>
            </a:avLst>
          </a:prstGeom>
          <a:solidFill>
            <a:srgbClr val="F7F9F7"/>
          </a:solidFill>
          <a:ln w="12700">
            <a:solidFill>
              <a:srgbClr val="E5EB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28800"/>
            <a:ext cx="64008" cy="3840480"/>
          </a:xfrm>
          <a:prstGeom prst="rect">
            <a:avLst/>
          </a:prstGeom>
          <a:solidFill>
            <a:srgbClr val="0E7A4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664208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800" b="1" dirty="0">
                <a:solidFill>
                  <a:srgbClr val="0E7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005840" y="2697480"/>
            <a:ext cx="6355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7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高考录取时，机器人工程并非第一志愿。</a:t>
            </a:r>
            <a:endParaRPr lang="en-US" sz="1700" dirty="0"/>
          </a:p>
          <a:p>
            <a:pPr algn="l" indent="0" marL="0">
              <a:lnSpc>
                <a:spcPct val="170000"/>
              </a:lnSpc>
              <a:buNone/>
            </a:pPr>
            <a:r>
              <a:rPr lang="en-US" sz="17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第一反应是：“以后要去修机器人吗？”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818120" y="1828800"/>
            <a:ext cx="3822192" cy="3840480"/>
          </a:xfrm>
          <a:prstGeom prst="roundRect">
            <a:avLst>
              <a:gd name="adj" fmla="val 1196"/>
            </a:avLst>
          </a:prstGeom>
          <a:solidFill>
            <a:srgbClr val="0D1B1E"/>
          </a:solidFill>
          <a:ln/>
        </p:spPr>
      </p:sp>
      <p:sp>
        <p:nvSpPr>
          <p:cNvPr id="10" name="Text 8"/>
          <p:cNvSpPr/>
          <p:nvPr/>
        </p:nvSpPr>
        <p:spPr>
          <a:xfrm>
            <a:off x="8183880" y="2606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ED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我的决定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83880" y="3127248"/>
            <a:ext cx="548640" cy="36576"/>
          </a:xfrm>
          <a:prstGeom prst="rect">
            <a:avLst/>
          </a:prstGeom>
          <a:solidFill>
            <a:srgbClr val="2ED573"/>
          </a:solidFill>
          <a:ln/>
        </p:spPr>
      </p:sp>
      <p:sp>
        <p:nvSpPr>
          <p:cNvPr id="12" name="Text 10"/>
          <p:cNvSpPr/>
          <p:nvPr/>
        </p:nvSpPr>
        <p:spPr>
          <a:xfrm>
            <a:off x="8183880" y="342900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先看清楚，再下结论。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E7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RESEARCH METHODOLOGY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行动：拒绝躺平，展开三个月深度调研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881360" y="365760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45129" cy="416052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E4E3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55444" y="2258568"/>
            <a:ext cx="731520" cy="731520"/>
          </a:xfrm>
          <a:prstGeom prst="ellipse">
            <a:avLst/>
          </a:prstGeom>
          <a:solidFill>
            <a:srgbClr val="0E7A4F"/>
          </a:solidFill>
          <a:ln/>
        </p:spPr>
      </p:sp>
      <p:sp>
        <p:nvSpPr>
          <p:cNvPr id="7" name="Text 5"/>
          <p:cNvSpPr/>
          <p:nvPr/>
        </p:nvSpPr>
        <p:spPr>
          <a:xfrm>
            <a:off x="1955444" y="24414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291840"/>
            <a:ext cx="354512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 AI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931920"/>
            <a:ext cx="299648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从生活问答升级到与 DeepSeek、ChatGPT、Claude 深度协作。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521104" y="534924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EAF6EF"/>
          </a:solidFill>
          <a:ln w="12700">
            <a:solidFill>
              <a:srgbClr val="C9E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21104" y="53492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深度协作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22369" y="1874520"/>
            <a:ext cx="3545129" cy="416052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E4E3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29173" y="2258568"/>
            <a:ext cx="731520" cy="731520"/>
          </a:xfrm>
          <a:prstGeom prst="ellipse">
            <a:avLst/>
          </a:prstGeom>
          <a:solidFill>
            <a:srgbClr val="0E7A4F"/>
          </a:solidFill>
          <a:ln/>
        </p:spPr>
      </p:sp>
      <p:sp>
        <p:nvSpPr>
          <p:cNvPr id="14" name="Text 12"/>
          <p:cNvSpPr/>
          <p:nvPr/>
        </p:nvSpPr>
        <p:spPr>
          <a:xfrm>
            <a:off x="5729173" y="24414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322369" y="3291840"/>
            <a:ext cx="354512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查岗位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96689" y="3931920"/>
            <a:ext cx="299648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精细分析“机器人产品经理”与“AI产品经理”招聘需求。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294833" y="534924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EAF6EF"/>
          </a:solidFill>
          <a:ln w="12700">
            <a:solidFill>
              <a:srgbClr val="C9E6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94833" y="53492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岗位画像分析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095183" y="1874520"/>
            <a:ext cx="3545129" cy="416052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E4E3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01988" y="2258568"/>
            <a:ext cx="731520" cy="731520"/>
          </a:xfrm>
          <a:prstGeom prst="ellipse">
            <a:avLst/>
          </a:prstGeom>
          <a:solidFill>
            <a:srgbClr val="0E7A4F"/>
          </a:solidFill>
          <a:ln/>
        </p:spPr>
      </p:sp>
      <p:sp>
        <p:nvSpPr>
          <p:cNvPr id="21" name="Text 19"/>
          <p:cNvSpPr/>
          <p:nvPr/>
        </p:nvSpPr>
        <p:spPr>
          <a:xfrm>
            <a:off x="9501988" y="2441448"/>
            <a:ext cx="731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095183" y="3291840"/>
            <a:ext cx="354512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看行业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69503" y="3931920"/>
            <a:ext cx="299648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持续追踪具身智能政策导向与前沿产业新闻发展。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067648" y="5349240"/>
            <a:ext cx="1600200" cy="365760"/>
          </a:xfrm>
          <a:prstGeom prst="roundRect">
            <a:avLst>
              <a:gd name="adj" fmla="val 50000"/>
            </a:avLst>
          </a:prstGeom>
          <a:solidFill>
            <a:srgbClr val="EAF6EF"/>
          </a:solidFill>
          <a:ln w="12700">
            <a:solidFill>
              <a:srgbClr val="C9E6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67648" y="53492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产业动态追踪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E7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KEY FINDINGS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三个发现，替我汇聚出职业方向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881360" y="365760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45129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E4E3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69744" y="2148840"/>
            <a:ext cx="502920" cy="502920"/>
          </a:xfrm>
          <a:prstGeom prst="ellipse">
            <a:avLst/>
          </a:prstGeom>
          <a:solidFill>
            <a:srgbClr val="E3F4EA"/>
          </a:solidFill>
          <a:ln/>
        </p:spPr>
      </p:sp>
      <p:sp>
        <p:nvSpPr>
          <p:cNvPr id="7" name="Text 5"/>
          <p:cNvSpPr/>
          <p:nvPr/>
        </p:nvSpPr>
        <p:spPr>
          <a:xfrm>
            <a:off x="2069744" y="22585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971800"/>
            <a:ext cx="2905049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65000"/>
              </a:lnSpc>
              <a:buNone/>
            </a:pPr>
            <a:r>
              <a:rPr lang="en-US" sz="115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具身智能列入国家六大未来产业，写入政府工作报告。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22369" y="1874520"/>
            <a:ext cx="3545129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E4E3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43473" y="2148840"/>
            <a:ext cx="502920" cy="502920"/>
          </a:xfrm>
          <a:prstGeom prst="ellipse">
            <a:avLst/>
          </a:prstGeom>
          <a:solidFill>
            <a:srgbClr val="E3F4EA"/>
          </a:solidFill>
          <a:ln/>
        </p:spPr>
      </p:sp>
      <p:sp>
        <p:nvSpPr>
          <p:cNvPr id="11" name="Text 9"/>
          <p:cNvSpPr/>
          <p:nvPr/>
        </p:nvSpPr>
        <p:spPr>
          <a:xfrm>
            <a:off x="5843473" y="22585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42409" y="2971800"/>
            <a:ext cx="2905049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65000"/>
              </a:lnSpc>
              <a:buNone/>
            </a:pPr>
            <a:r>
              <a:rPr lang="en-US" sz="115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岗位核心要求拆解为：“懂技术、能沟通、有项目”。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95183" y="1874520"/>
            <a:ext cx="3545129" cy="32461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E4E3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16288" y="2148840"/>
            <a:ext cx="502920" cy="502920"/>
          </a:xfrm>
          <a:prstGeom prst="ellipse">
            <a:avLst/>
          </a:prstGeom>
          <a:solidFill>
            <a:srgbClr val="E3F4EA"/>
          </a:solidFill>
          <a:ln/>
        </p:spPr>
      </p:sp>
      <p:sp>
        <p:nvSpPr>
          <p:cNvPr id="15" name="Text 13"/>
          <p:cNvSpPr/>
          <p:nvPr/>
        </p:nvSpPr>
        <p:spPr>
          <a:xfrm>
            <a:off x="9616288" y="22585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5223" y="2971800"/>
            <a:ext cx="2905049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65000"/>
              </a:lnSpc>
              <a:buNone/>
            </a:pPr>
            <a:r>
              <a:rPr lang="en-US" sz="115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个人优势（沟通表达与AI协作）与市场需求高度契合。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5257800"/>
            <a:ext cx="11094415" cy="777240"/>
          </a:xfrm>
          <a:prstGeom prst="roundRect">
            <a:avLst>
              <a:gd name="adj" fmla="val 5882"/>
            </a:avLst>
          </a:prstGeom>
          <a:solidFill>
            <a:srgbClr val="0D1B1E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5440680"/>
            <a:ext cx="1554480" cy="457200"/>
          </a:xfrm>
          <a:prstGeom prst="roundRect">
            <a:avLst>
              <a:gd name="adj" fmla="val 20000"/>
            </a:avLst>
          </a:prstGeom>
          <a:solidFill>
            <a:srgbClr val="0F3D2C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54406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ED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明确目标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06040" y="54406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与机器人交叉领域的技术型产品经理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E7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TARGET POSITION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技术型产品经理：把技术“翻译”成产品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881360" y="365760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8640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4E3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57400"/>
            <a:ext cx="54864" cy="822960"/>
          </a:xfrm>
          <a:prstGeom prst="rect">
            <a:avLst/>
          </a:prstGeom>
          <a:solidFill>
            <a:srgbClr val="0E7A4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3911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E7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目标企业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44144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宇树科技等具身智能公司 / 包含机器人业务的科技龙头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53912" y="1783080"/>
            <a:ext cx="548640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4E3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53912" y="2057400"/>
            <a:ext cx="54864" cy="822960"/>
          </a:xfrm>
          <a:prstGeom prst="rect">
            <a:avLst/>
          </a:prstGeom>
          <a:solidFill>
            <a:srgbClr val="0E7A4F"/>
          </a:solidFill>
          <a:ln/>
        </p:spPr>
      </p:sp>
      <p:sp>
        <p:nvSpPr>
          <p:cNvPr id="11" name="Text 9"/>
          <p:cNvSpPr/>
          <p:nvPr/>
        </p:nvSpPr>
        <p:spPr>
          <a:xfrm>
            <a:off x="6428232" y="203911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E7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意向地域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28232" y="244144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深圳、杭州、上海等产业集聚城市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3545129" cy="260604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E4E3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703320"/>
            <a:ext cx="1234440" cy="384048"/>
          </a:xfrm>
          <a:prstGeom prst="roundRect">
            <a:avLst>
              <a:gd name="adj" fmla="val 28571"/>
            </a:avLst>
          </a:prstGeom>
          <a:solidFill>
            <a:srgbClr val="0D1B1E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7033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ED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要素 01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4270248"/>
            <a:ext cx="299648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懂技术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22960" y="4800600"/>
            <a:ext cx="299648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熟练协同AI大模型，理解机器人底层硬件与控制原理。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22369" y="3429000"/>
            <a:ext cx="3545129" cy="260604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E4E3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96689" y="3703320"/>
            <a:ext cx="1234440" cy="384048"/>
          </a:xfrm>
          <a:prstGeom prst="roundRect">
            <a:avLst>
              <a:gd name="adj" fmla="val 28571"/>
            </a:avLst>
          </a:prstGeom>
          <a:solidFill>
            <a:srgbClr val="0D1B1E"/>
          </a:solidFill>
          <a:ln/>
        </p:spPr>
      </p:sp>
      <p:sp>
        <p:nvSpPr>
          <p:cNvPr id="20" name="Text 18"/>
          <p:cNvSpPr/>
          <p:nvPr/>
        </p:nvSpPr>
        <p:spPr>
          <a:xfrm>
            <a:off x="4596689" y="37033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ED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要素 02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96689" y="4270248"/>
            <a:ext cx="299648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能沟通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596689" y="4800600"/>
            <a:ext cx="299648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具备跨部门表达协作能力，精准对接技术与需求。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095183" y="3429000"/>
            <a:ext cx="3545129" cy="260604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E4E3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69503" y="3703320"/>
            <a:ext cx="1234440" cy="384048"/>
          </a:xfrm>
          <a:prstGeom prst="roundRect">
            <a:avLst>
              <a:gd name="adj" fmla="val 28571"/>
            </a:avLst>
          </a:prstGeom>
          <a:solidFill>
            <a:srgbClr val="0D1B1E"/>
          </a:solidFill>
          <a:ln/>
        </p:spPr>
      </p:sp>
      <p:sp>
        <p:nvSpPr>
          <p:cNvPr id="25" name="Text 23"/>
          <p:cNvSpPr/>
          <p:nvPr/>
        </p:nvSpPr>
        <p:spPr>
          <a:xfrm>
            <a:off x="8369503" y="37033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ED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要素 03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369503" y="4270248"/>
            <a:ext cx="299648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有项目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369503" y="4800600"/>
            <a:ext cx="299648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持续积累真实落地实践，用可量化的作品说话。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E7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INDUSTRY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具身智能：从数字思考者到物理行动者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881360" y="365760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94415" cy="822960"/>
          </a:xfrm>
          <a:prstGeom prst="roundRect">
            <a:avLst>
              <a:gd name="adj" fmla="val 5556"/>
            </a:avLst>
          </a:prstGeom>
          <a:solidFill>
            <a:srgbClr val="0D1B1E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965960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0F3D2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659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ED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48840" y="194767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与机器人的交叉，是确定性极强的长期向上赛道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3545129" cy="3063240"/>
          </a:xfrm>
          <a:prstGeom prst="roundRect">
            <a:avLst>
              <a:gd name="adj" fmla="val 1493"/>
            </a:avLst>
          </a:prstGeom>
          <a:solidFill>
            <a:srgbClr val="FFFFFF"/>
          </a:solidFill>
          <a:ln w="12700">
            <a:solidFill>
              <a:srgbClr val="E4E3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218688"/>
            <a:ext cx="457200" cy="457200"/>
          </a:xfrm>
          <a:prstGeom prst="ellipse">
            <a:avLst/>
          </a:prstGeom>
          <a:solidFill>
            <a:srgbClr val="E3F4E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32841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17320" y="32186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政策端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3840480"/>
            <a:ext cx="299648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国家战略支柱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4297680"/>
            <a:ext cx="299648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列入国家六大未来产业方向，连续写进政府工作报告。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22369" y="2926080"/>
            <a:ext cx="3545129" cy="3063240"/>
          </a:xfrm>
          <a:prstGeom prst="roundRect">
            <a:avLst>
              <a:gd name="adj" fmla="val 1493"/>
            </a:avLst>
          </a:prstGeom>
          <a:solidFill>
            <a:srgbClr val="FFFFFF"/>
          </a:solidFill>
          <a:ln w="12700">
            <a:solidFill>
              <a:srgbClr val="E4E3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96689" y="3218688"/>
            <a:ext cx="457200" cy="457200"/>
          </a:xfrm>
          <a:prstGeom prst="ellipse">
            <a:avLst/>
          </a:prstGeom>
          <a:solidFill>
            <a:srgbClr val="E3F4EA"/>
          </a:solidFill>
          <a:ln/>
        </p:spPr>
      </p:sp>
      <p:sp>
        <p:nvSpPr>
          <p:cNvPr id="17" name="Text 15"/>
          <p:cNvSpPr/>
          <p:nvPr/>
        </p:nvSpPr>
        <p:spPr>
          <a:xfrm>
            <a:off x="4596689" y="332841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91049" y="32186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学术端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96689" y="3840480"/>
            <a:ext cx="299648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清华张涛教授观点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96689" y="4297680"/>
            <a:ext cx="299648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机器人正“从数字世界的思考者，变成物理世界的行动者”。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95183" y="2926080"/>
            <a:ext cx="3545129" cy="3063240"/>
          </a:xfrm>
          <a:prstGeom prst="roundRect">
            <a:avLst>
              <a:gd name="adj" fmla="val 1493"/>
            </a:avLst>
          </a:prstGeom>
          <a:solidFill>
            <a:srgbClr val="FFFFFF"/>
          </a:solidFill>
          <a:ln w="12700">
            <a:solidFill>
              <a:srgbClr val="E4E3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69503" y="3218688"/>
            <a:ext cx="457200" cy="457200"/>
          </a:xfrm>
          <a:prstGeom prst="ellipse">
            <a:avLst/>
          </a:prstGeom>
          <a:solidFill>
            <a:srgbClr val="E3F4EA"/>
          </a:solidFill>
          <a:ln/>
        </p:spPr>
      </p:sp>
      <p:sp>
        <p:nvSpPr>
          <p:cNvPr id="23" name="Text 21"/>
          <p:cNvSpPr/>
          <p:nvPr/>
        </p:nvSpPr>
        <p:spPr>
          <a:xfrm>
            <a:off x="8369503" y="332841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963863" y="32186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产业端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69503" y="3840480"/>
            <a:ext cx="299648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技术落地破局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369503" y="4297680"/>
            <a:ext cx="299648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OpenAI刷新模型能力，宇树大模型接入机械臂无人抓取。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E7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FUTURE VISION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未来十年，我的产品在这样三个世界里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881360" y="365760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000" dirty="0"/>
          </a:p>
        </p:txBody>
      </p:sp>
      <p:pic>
        <p:nvPicPr>
          <p:cNvPr id="5" name="Image 0" descr="assets/world1_740x104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3264408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5532120"/>
            <a:ext cx="2807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黑灯工厂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77240" y="5925312"/>
            <a:ext cx="2807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9CF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机械臂精密组装机器人</a:t>
            </a:r>
            <a:endParaRPr lang="en-US" sz="1000" dirty="0"/>
          </a:p>
        </p:txBody>
      </p:sp>
      <p:pic>
        <p:nvPicPr>
          <p:cNvPr id="8" name="Image 1" descr="assets/world2_740x104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272" y="1737360"/>
            <a:ext cx="3264408" cy="4572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90872" y="5532120"/>
            <a:ext cx="2807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救援与服务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4690872" y="5925312"/>
            <a:ext cx="2807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9CF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特种机器人走进危险与日常</a:t>
            </a:r>
            <a:endParaRPr lang="en-US" sz="1000" dirty="0"/>
          </a:p>
        </p:txBody>
      </p:sp>
      <p:pic>
        <p:nvPicPr>
          <p:cNvPr id="11" name="Image 2" descr="assets/world3_740x104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904" y="1737360"/>
            <a:ext cx="3264408" cy="45720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04504" y="5532120"/>
            <a:ext cx="2807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人形机器人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8604504" y="5925312"/>
            <a:ext cx="2807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9CFC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高密度 human-robot 协作共事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E7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/ ACTION EVIDENCE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行动①：开学课余约一周，独立上线个人网站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881360" y="365760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6675120" cy="4572000"/>
          </a:xfrm>
          <a:prstGeom prst="roundRect">
            <a:avLst>
              <a:gd name="adj" fmla="val 1000"/>
            </a:avLst>
          </a:prstGeom>
          <a:solidFill>
            <a:srgbClr val="F7F9F7"/>
          </a:solidFill>
          <a:ln w="12700">
            <a:solidFill>
              <a:srgbClr val="E5EB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031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全流程实践闭环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697480"/>
            <a:ext cx="777240" cy="457200"/>
          </a:xfrm>
          <a:prstGeom prst="roundRect">
            <a:avLst>
              <a:gd name="adj" fmla="val 50000"/>
            </a:avLst>
          </a:prstGeom>
          <a:solidFill>
            <a:srgbClr val="EAF6EF"/>
          </a:solidFill>
          <a:ln w="12700">
            <a:solidFill>
              <a:srgbClr val="C9E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69748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91640" y="26974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E7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011680" y="2697480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EAF6EF"/>
          </a:solidFill>
          <a:ln w="12700">
            <a:solidFill>
              <a:srgbClr val="C9E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11680" y="26974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AI协同写代码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11880" y="269748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E7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931920" y="269748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EAF6EF"/>
          </a:solidFill>
          <a:ln w="12700">
            <a:solidFill>
              <a:srgbClr val="C9E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0" y="26974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Netlify部署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14400" y="3310128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EAF6EF"/>
          </a:solidFill>
          <a:ln w="12700">
            <a:solidFill>
              <a:srgbClr val="C9E6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31012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绑定域名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03120" y="331012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E7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423160" y="3310128"/>
            <a:ext cx="1188720" cy="457200"/>
          </a:xfrm>
          <a:prstGeom prst="roundRect">
            <a:avLst>
              <a:gd name="adj" fmla="val 50000"/>
            </a:avLst>
          </a:prstGeom>
          <a:solidFill>
            <a:srgbClr val="EAF6EF"/>
          </a:solidFill>
          <a:ln w="12700">
            <a:solidFill>
              <a:srgbClr val="C9E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23160" y="331012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动态维护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0" y="4041648"/>
            <a:ext cx="5943600" cy="1051560"/>
          </a:xfrm>
          <a:prstGeom prst="roundRect">
            <a:avLst>
              <a:gd name="adj" fmla="val 4348"/>
            </a:avLst>
          </a:prstGeom>
          <a:solidFill>
            <a:srgbClr val="EAF6EF"/>
          </a:solidFill>
          <a:ln w="12700">
            <a:solidFill>
              <a:srgbClr val="C9E6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41696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人机协同范式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143000" y="452628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E6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43000" y="45262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我描述现象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423160" y="452628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E7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697480" y="452628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E6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97480" y="45262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AI定位问题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977640" y="452628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E7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251960" y="452628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9E6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51960" y="45262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我验证修复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14400" y="544068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0D1B1E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5440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ED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1 周上线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468880" y="544068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0D1B1E"/>
          </a:solidFill>
          <a:ln/>
        </p:spPr>
      </p:sp>
      <p:sp>
        <p:nvSpPr>
          <p:cNvPr id="33" name="Text 31"/>
          <p:cNvSpPr/>
          <p:nvPr/>
        </p:nvSpPr>
        <p:spPr>
          <a:xfrm>
            <a:off x="2468880" y="544068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ED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独立完成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703320" y="54406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0D1B1E"/>
          </a:solidFill>
          <a:ln/>
        </p:spPr>
      </p:sp>
      <p:sp>
        <p:nvSpPr>
          <p:cNvPr id="35" name="Text 33"/>
          <p:cNvSpPr/>
          <p:nvPr/>
        </p:nvSpPr>
        <p:spPr>
          <a:xfrm>
            <a:off x="3703320" y="54406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ED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持续更新至今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452360" y="1783080"/>
            <a:ext cx="4187952" cy="4572000"/>
          </a:xfrm>
          <a:prstGeom prst="roundRect">
            <a:avLst>
              <a:gd name="adj" fmla="val 1092"/>
            </a:avLst>
          </a:prstGeom>
          <a:solidFill>
            <a:srgbClr val="FFFFFF"/>
          </a:solidFill>
          <a:ln w="12700">
            <a:solidFill>
              <a:srgbClr val="E4E3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52360" y="2194560"/>
            <a:ext cx="4187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现场可扫码体验网站</a:t>
            </a:r>
            <a:endParaRPr lang="en-US" sz="1300" dirty="0"/>
          </a:p>
        </p:txBody>
      </p:sp>
      <p:pic>
        <p:nvPicPr>
          <p:cNvPr id="38" name="Image 0" descr="assets/qr_512x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6488" y="2743200"/>
            <a:ext cx="2139696" cy="2139696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7452360" y="5138928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8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https://hejun54579com.netlify.app</a:t>
            </a:r>
            <a:endParaRPr lang="en-US" sz="980" dirty="0"/>
          </a:p>
        </p:txBody>
      </p:sp>
      <p:sp>
        <p:nvSpPr>
          <p:cNvPr id="40" name="Shape 37"/>
          <p:cNvSpPr/>
          <p:nvPr/>
        </p:nvSpPr>
        <p:spPr>
          <a:xfrm>
            <a:off x="8549640" y="5614416"/>
            <a:ext cx="1463040" cy="13716"/>
          </a:xfrm>
          <a:prstGeom prst="rect">
            <a:avLst/>
          </a:prstGeom>
          <a:solidFill>
            <a:srgbClr val="E4E3E0"/>
          </a:solidFill>
          <a:ln/>
        </p:spPr>
      </p:sp>
      <p:sp>
        <p:nvSpPr>
          <p:cNvPr id="41" name="Text 38"/>
          <p:cNvSpPr/>
          <p:nvPr/>
        </p:nvSpPr>
        <p:spPr>
          <a:xfrm>
            <a:off x="7452360" y="5724144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从策划、开发到部署全流程独立完成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E7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ACTION EVIDENCE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行动②：做网站练对话AI，卖电脑练对话人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881360" y="365760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94415" cy="1051560"/>
          </a:xfrm>
          <a:prstGeom prst="roundRect">
            <a:avLst>
              <a:gd name="adj" fmla="val 4348"/>
            </a:avLst>
          </a:prstGeom>
          <a:solidFill>
            <a:srgbClr val="E3F4E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0"/>
            <a:ext cx="11094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“把复杂配置参数，讲成同学听得懂的语言”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3545129" cy="265176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2700">
            <a:solidFill>
              <a:srgbClr val="E4E3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37740" y="3657600"/>
            <a:ext cx="566928" cy="566928"/>
          </a:xfrm>
          <a:prstGeom prst="ellipse">
            <a:avLst/>
          </a:prstGeom>
          <a:solidFill>
            <a:srgbClr val="E3F4EA"/>
          </a:solidFill>
          <a:ln/>
        </p:spPr>
      </p:sp>
      <p:sp>
        <p:nvSpPr>
          <p:cNvPr id="9" name="Text 7"/>
          <p:cNvSpPr/>
          <p:nvPr/>
        </p:nvSpPr>
        <p:spPr>
          <a:xfrm>
            <a:off x="2037740" y="3785616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4480560"/>
            <a:ext cx="35451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高中经历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5029200"/>
            <a:ext cx="290504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任劳动委员 · 获评优秀班干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22369" y="3291840"/>
            <a:ext cx="3545129" cy="265176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2700">
            <a:solidFill>
              <a:srgbClr val="E4E3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11469" y="3657600"/>
            <a:ext cx="566928" cy="566928"/>
          </a:xfrm>
          <a:prstGeom prst="ellipse">
            <a:avLst/>
          </a:prstGeom>
          <a:solidFill>
            <a:srgbClr val="E3F4EA"/>
          </a:solidFill>
          <a:ln/>
        </p:spPr>
      </p:sp>
      <p:sp>
        <p:nvSpPr>
          <p:cNvPr id="14" name="Text 12"/>
          <p:cNvSpPr/>
          <p:nvPr/>
        </p:nvSpPr>
        <p:spPr>
          <a:xfrm>
            <a:off x="5811469" y="3785616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22369" y="4480560"/>
            <a:ext cx="35451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大学职务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42409" y="5029200"/>
            <a:ext cx="290504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机器人工程261班学习委员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95183" y="3291840"/>
            <a:ext cx="3545129" cy="2651760"/>
          </a:xfrm>
          <a:prstGeom prst="roundRect">
            <a:avLst>
              <a:gd name="adj" fmla="val 1724"/>
            </a:avLst>
          </a:prstGeom>
          <a:solidFill>
            <a:srgbClr val="FFFFFF"/>
          </a:solidFill>
          <a:ln w="12700">
            <a:solidFill>
              <a:srgbClr val="E4E3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84284" y="3657600"/>
            <a:ext cx="566928" cy="566928"/>
          </a:xfrm>
          <a:prstGeom prst="ellipse">
            <a:avLst/>
          </a:prstGeom>
          <a:solidFill>
            <a:srgbClr val="E3F4EA"/>
          </a:solidFill>
          <a:ln/>
        </p:spPr>
      </p:sp>
      <p:sp>
        <p:nvSpPr>
          <p:cNvPr id="19" name="Text 17"/>
          <p:cNvSpPr/>
          <p:nvPr/>
        </p:nvSpPr>
        <p:spPr>
          <a:xfrm>
            <a:off x="9584284" y="3785616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095183" y="4480560"/>
            <a:ext cx="35451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商业实践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15223" y="5029200"/>
            <a:ext cx="290504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星辰科技校园合伙人促成成交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E7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SELF IMPROVEMENT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行动③：不藏短板——用工具给性格打补丁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881360" y="365760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40680" cy="4206240"/>
          </a:xfrm>
          <a:prstGeom prst="roundRect">
            <a:avLst>
              <a:gd name="adj" fmla="val 1087"/>
            </a:avLst>
          </a:prstGeom>
          <a:solidFill>
            <a:srgbClr val="F7F9F7"/>
          </a:solidFill>
          <a:ln w="12700">
            <a:solidFill>
              <a:srgbClr val="E5EB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103120"/>
            <a:ext cx="2103120" cy="475488"/>
          </a:xfrm>
          <a:prstGeom prst="roundRect">
            <a:avLst>
              <a:gd name="adj" fmla="val 50000"/>
            </a:avLst>
          </a:prstGeom>
          <a:solidFill>
            <a:srgbClr val="ECF2ED"/>
          </a:solidFill>
          <a:ln w="12700">
            <a:solidFill>
              <a:srgbClr val="D5E4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0312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A57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短板 01：性子急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27889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代码误操作致网站空白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3218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E7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2960" y="3657600"/>
            <a:ext cx="4892040" cy="2103120"/>
          </a:xfrm>
          <a:prstGeom prst="roundRect">
            <a:avLst>
              <a:gd name="adj" fmla="val 2174"/>
            </a:avLst>
          </a:prstGeom>
          <a:solidFill>
            <a:srgbClr val="0E5B40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85876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ED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打补丁 · 立规矩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4315968"/>
            <a:ext cx="4434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AI代码跑完必人工复核，关键操作严格列清单执行。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99632" y="1828800"/>
            <a:ext cx="5440680" cy="4206240"/>
          </a:xfrm>
          <a:prstGeom prst="roundRect">
            <a:avLst>
              <a:gd name="adj" fmla="val 1087"/>
            </a:avLst>
          </a:prstGeom>
          <a:solidFill>
            <a:srgbClr val="F7F9F7"/>
          </a:solidFill>
          <a:ln w="12700">
            <a:solidFill>
              <a:srgbClr val="E5EB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73952" y="2103120"/>
            <a:ext cx="2103120" cy="475488"/>
          </a:xfrm>
          <a:prstGeom prst="roundRect">
            <a:avLst>
              <a:gd name="adj" fmla="val 50000"/>
            </a:avLst>
          </a:prstGeom>
          <a:solidFill>
            <a:srgbClr val="ECF2ED"/>
          </a:solidFill>
          <a:ln w="12700">
            <a:solidFill>
              <a:srgbClr val="D5E4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3952" y="210312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4A57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短板 02：英语弱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19672" y="27889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高考英语 53 分底子薄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65392" y="32186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E7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473952" y="3657600"/>
            <a:ext cx="4892040" cy="2103120"/>
          </a:xfrm>
          <a:prstGeom prst="roundRect">
            <a:avLst>
              <a:gd name="adj" fmla="val 2174"/>
            </a:avLst>
          </a:prstGeom>
          <a:solidFill>
            <a:srgbClr val="0E5B40"/>
          </a:solidFill>
          <a:ln/>
        </p:spPr>
      </p:sp>
      <p:sp>
        <p:nvSpPr>
          <p:cNvPr id="19" name="Text 17"/>
          <p:cNvSpPr/>
          <p:nvPr/>
        </p:nvSpPr>
        <p:spPr>
          <a:xfrm>
            <a:off x="6702552" y="3858768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ED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打补丁 · 日攻坚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02552" y="4315968"/>
            <a:ext cx="4434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本学期起每日坚持背单词，攻坚下学期四级首考。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E7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ACTION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三年三步：技能作品 → 竞赛实战 → 考研深化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881360" y="365760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61208" y="1828800"/>
            <a:ext cx="1554480" cy="502920"/>
          </a:xfrm>
          <a:prstGeom prst="roundRect">
            <a:avLst>
              <a:gd name="adj" fmla="val 21818"/>
            </a:avLst>
          </a:prstGeom>
          <a:solidFill>
            <a:srgbClr val="0D1B1E"/>
          </a:solidFill>
          <a:ln/>
        </p:spPr>
      </p:sp>
      <p:sp>
        <p:nvSpPr>
          <p:cNvPr id="6" name="Text 4"/>
          <p:cNvSpPr/>
          <p:nvPr/>
        </p:nvSpPr>
        <p:spPr>
          <a:xfrm>
            <a:off x="3261208" y="18288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技能作品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15688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E7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318608" y="1828800"/>
            <a:ext cx="1554480" cy="502920"/>
          </a:xfrm>
          <a:prstGeom prst="roundRect">
            <a:avLst>
              <a:gd name="adj" fmla="val 21818"/>
            </a:avLst>
          </a:prstGeom>
          <a:solidFill>
            <a:srgbClr val="0D1B1E"/>
          </a:solidFill>
          <a:ln/>
        </p:spPr>
      </p:sp>
      <p:sp>
        <p:nvSpPr>
          <p:cNvPr id="9" name="Text 7"/>
          <p:cNvSpPr/>
          <p:nvPr/>
        </p:nvSpPr>
        <p:spPr>
          <a:xfrm>
            <a:off x="5318608" y="18288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竞赛实战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73088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E7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76008" y="1828800"/>
            <a:ext cx="1554480" cy="502920"/>
          </a:xfrm>
          <a:prstGeom prst="roundRect">
            <a:avLst>
              <a:gd name="adj" fmla="val 21818"/>
            </a:avLst>
          </a:prstGeom>
          <a:solidFill>
            <a:srgbClr val="0D1B1E"/>
          </a:solidFill>
          <a:ln/>
        </p:spPr>
      </p:sp>
      <p:sp>
        <p:nvSpPr>
          <p:cNvPr id="12" name="Text 10"/>
          <p:cNvSpPr/>
          <p:nvPr/>
        </p:nvSpPr>
        <p:spPr>
          <a:xfrm>
            <a:off x="7376008" y="18288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考研深化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697480"/>
            <a:ext cx="3545129" cy="333756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2700">
            <a:solidFill>
              <a:srgbClr val="E4E3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2990088"/>
            <a:ext cx="457200" cy="457200"/>
          </a:xfrm>
          <a:prstGeom prst="ellipse">
            <a:avLst/>
          </a:prstGeom>
          <a:solidFill>
            <a:srgbClr val="0E7A4F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09981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17320" y="297180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大一 · 技能与作品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22960" y="3429000"/>
            <a:ext cx="299648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打牢基础根基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" y="3813048"/>
            <a:ext cx="2996489" cy="13716"/>
          </a:xfrm>
          <a:prstGeom prst="rect">
            <a:avLst/>
          </a:prstGeom>
          <a:solidFill>
            <a:srgbClr val="E4E3E0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023360"/>
            <a:ext cx="2996489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持续迭代优化个人网站</a:t>
            </a:r>
            <a:endParaRPr lang="en-US" sz="10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每日背单词备战英语四级</a:t>
            </a:r>
            <a:endParaRPr lang="en-US" sz="10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整理 PM 岗位学习清单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22369" y="2697480"/>
            <a:ext cx="3545129" cy="333756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2700">
            <a:solidFill>
              <a:srgbClr val="E4E3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96689" y="2990088"/>
            <a:ext cx="457200" cy="457200"/>
          </a:xfrm>
          <a:prstGeom prst="ellipse">
            <a:avLst/>
          </a:prstGeom>
          <a:solidFill>
            <a:srgbClr val="0E7A4F"/>
          </a:solidFill>
          <a:ln/>
        </p:spPr>
      </p:sp>
      <p:sp>
        <p:nvSpPr>
          <p:cNvPr id="22" name="Text 20"/>
          <p:cNvSpPr/>
          <p:nvPr/>
        </p:nvSpPr>
        <p:spPr>
          <a:xfrm>
            <a:off x="4596689" y="309981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91049" y="297180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大二 · 竞赛与实战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596689" y="3429000"/>
            <a:ext cx="299648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工程项目破局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96689" y="3813048"/>
            <a:ext cx="2996489" cy="13716"/>
          </a:xfrm>
          <a:prstGeom prst="rect">
            <a:avLst/>
          </a:prstGeom>
          <a:solidFill>
            <a:srgbClr val="E4E3E0"/>
          </a:solidFill>
          <a:ln/>
        </p:spPr>
      </p:sp>
      <p:sp>
        <p:nvSpPr>
          <p:cNvPr id="26" name="Text 24"/>
          <p:cNvSpPr/>
          <p:nvPr/>
        </p:nvSpPr>
        <p:spPr>
          <a:xfrm>
            <a:off x="4596689" y="4023360"/>
            <a:ext cx="2996489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数模竞赛（学长邀约入队）</a:t>
            </a:r>
            <a:endParaRPr lang="en-US" sz="10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机器人与双创类竞赛</a:t>
            </a:r>
            <a:endParaRPr lang="en-US" sz="10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争取进入机器人实验室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95183" y="2697480"/>
            <a:ext cx="3545129" cy="3337560"/>
          </a:xfrm>
          <a:prstGeom prst="roundRect">
            <a:avLst>
              <a:gd name="adj" fmla="val 1370"/>
            </a:avLst>
          </a:prstGeom>
          <a:solidFill>
            <a:srgbClr val="FFFFFF"/>
          </a:solidFill>
          <a:ln w="12700">
            <a:solidFill>
              <a:srgbClr val="E4E3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69503" y="2990088"/>
            <a:ext cx="457200" cy="457200"/>
          </a:xfrm>
          <a:prstGeom prst="ellipse">
            <a:avLst/>
          </a:prstGeom>
          <a:solidFill>
            <a:srgbClr val="0E7A4F"/>
          </a:solidFill>
          <a:ln/>
        </p:spPr>
      </p:sp>
      <p:sp>
        <p:nvSpPr>
          <p:cNvPr id="29" name="Text 27"/>
          <p:cNvSpPr/>
          <p:nvPr/>
        </p:nvSpPr>
        <p:spPr>
          <a:xfrm>
            <a:off x="8369503" y="3099816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963863" y="297180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大三 · 考研与深化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8369503" y="3429000"/>
            <a:ext cx="299648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学术学历提升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369503" y="3813048"/>
            <a:ext cx="2996489" cy="13716"/>
          </a:xfrm>
          <a:prstGeom prst="rect">
            <a:avLst/>
          </a:prstGeom>
          <a:solidFill>
            <a:srgbClr val="E4E3E0"/>
          </a:solidFill>
          <a:ln/>
        </p:spPr>
      </p:sp>
      <p:sp>
        <p:nvSpPr>
          <p:cNvPr id="33" name="Text 31"/>
          <p:cNvSpPr/>
          <p:nvPr/>
        </p:nvSpPr>
        <p:spPr>
          <a:xfrm>
            <a:off x="8369503" y="4023360"/>
            <a:ext cx="2996489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启动机器人/AI方向考研</a:t>
            </a:r>
            <a:endParaRPr lang="en-US" sz="10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用竞赛成果支撑复试</a:t>
            </a:r>
            <a:endParaRPr lang="en-US" sz="10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寻找前沿企业实习机会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E7A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RISK CONTROL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动态调整机制与 Plan B 备选方案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881360" y="365760"/>
            <a:ext cx="758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6400800" cy="4160520"/>
          </a:xfrm>
          <a:prstGeom prst="roundRect">
            <a:avLst>
              <a:gd name="adj" fmla="val 1099"/>
            </a:avLst>
          </a:prstGeom>
          <a:solidFill>
            <a:srgbClr val="F7F9F7"/>
          </a:solidFill>
          <a:ln w="12700">
            <a:solidFill>
              <a:srgbClr val="E5EB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10312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复盘机制：三个触发信号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2862072"/>
            <a:ext cx="365760" cy="365760"/>
          </a:xfrm>
          <a:prstGeom prst="ellipse">
            <a:avLst/>
          </a:prstGeom>
          <a:solidFill>
            <a:srgbClr val="E3F4E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93522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463040" y="278892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 1：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课程成绩与四级考核是否达标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14400" y="3776472"/>
            <a:ext cx="365760" cy="365760"/>
          </a:xfrm>
          <a:prstGeom prst="ellipse">
            <a:avLst/>
          </a:prstGeom>
          <a:solidFill>
            <a:srgbClr val="E3F4E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84962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463040" y="370332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 2：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竞赛项目是否有阶段性产出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4400" y="4690872"/>
            <a:ext cx="365760" cy="365760"/>
          </a:xfrm>
          <a:prstGeom prst="ellipse">
            <a:avLst/>
          </a:prstGeom>
          <a:solidFill>
            <a:srgbClr val="E3F4EA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76402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463040" y="461772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 3：</a:t>
            </a:r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12B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目标岗位招聘需求是否发生变化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562356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B5B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信号异常 → </a:t>
            </a: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6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及时调整路径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78040" y="1828800"/>
            <a:ext cx="4828032" cy="4160520"/>
          </a:xfrm>
          <a:prstGeom prst="roundRect">
            <a:avLst>
              <a:gd name="adj" fmla="val 1099"/>
            </a:avLst>
          </a:prstGeom>
          <a:solidFill>
            <a:srgbClr val="0D1B1E"/>
          </a:solidFill>
          <a:ln/>
        </p:spPr>
      </p:sp>
      <p:sp>
        <p:nvSpPr>
          <p:cNvPr id="18" name="Shape 16"/>
          <p:cNvSpPr/>
          <p:nvPr/>
        </p:nvSpPr>
        <p:spPr>
          <a:xfrm>
            <a:off x="7452360" y="2148840"/>
            <a:ext cx="1828800" cy="457200"/>
          </a:xfrm>
          <a:prstGeom prst="roundRect">
            <a:avLst>
              <a:gd name="adj" fmla="val 20000"/>
            </a:avLst>
          </a:prstGeom>
          <a:solidFill>
            <a:srgbClr val="0F3D2C"/>
          </a:solidFill>
          <a:ln/>
        </p:spPr>
      </p:sp>
      <p:sp>
        <p:nvSpPr>
          <p:cNvPr id="19" name="Text 17"/>
          <p:cNvSpPr/>
          <p:nvPr/>
        </p:nvSpPr>
        <p:spPr>
          <a:xfrm>
            <a:off x="7452360" y="2148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ED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 B 备份方案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52360" y="29260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应用服务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452360" y="3611880"/>
            <a:ext cx="4251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BD9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 AI 内容产品制作、规划与展示包装。基于已验证的沟通与 AI 协作能力，与主线互为备份。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70448" y="1481328"/>
            <a:ext cx="457200" cy="41148"/>
          </a:xfrm>
          <a:prstGeom prst="rect">
            <a:avLst/>
          </a:prstGeom>
          <a:solidFill>
            <a:srgbClr val="2ED573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96596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从被调剂到主动选择，我才刚刚出发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297180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9BD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“我要做的不是和机器人抢饭碗的人，而是设计和驾驭机器人的人。”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397764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谢谢聆听，请各位老师批评指正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14400" y="525780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E9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何军 · 机器人工程 261 班</a:t>
            </a:r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E6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|　</a:t>
            </a:r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ED5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hejun54579com.netlify.app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何军 · 职规赛成长赛道答辩</dc:title>
  <dc:subject>全国大学生职业规划大赛 · 成长赛道</dc:subject>
  <dc:creator>何军</dc:creator>
  <cp:lastModifiedBy>何军</cp:lastModifiedBy>
  <cp:revision>1</cp:revision>
  <dcterms:created xsi:type="dcterms:W3CDTF">2026-10-23T05:38:30Z</dcterms:created>
  <dcterms:modified xsi:type="dcterms:W3CDTF">2026-10-23T05:38:30Z</dcterms:modified>
</cp:coreProperties>
</file>